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Segoe UI Bold" charset="1" panose="020B0802040204020203"/>
      <p:regular r:id="rId33"/>
    </p:embeddedFont>
    <p:embeddedFont>
      <p:font typeface="Arimo Bold" charset="1" panose="020B0704020202020204"/>
      <p:regular r:id="rId34"/>
    </p:embeddedFont>
    <p:embeddedFont>
      <p:font typeface="Open Sauce Medium" charset="1" panose="00000600000000000000"/>
      <p:regular r:id="rId35"/>
    </p:embeddedFont>
    <p:embeddedFont>
      <p:font typeface="Arimo" charset="1" panose="020B0604020202020204"/>
      <p:regular r:id="rId36"/>
    </p:embeddedFont>
    <p:embeddedFont>
      <p:font typeface="Calibri (MS) Bold" charset="1" panose="020F0702030404030204"/>
      <p:regular r:id="rId37"/>
    </p:embeddedFont>
    <p:embeddedFont>
      <p:font typeface="JetBrains Mono Bold" charset="1" panose="02010809030102050004"/>
      <p:regular r:id="rId38"/>
    </p:embeddedFont>
    <p:embeddedFont>
      <p:font typeface="Segoe UI" charset="1" panose="020B0502040204020203"/>
      <p:regular r:id="rId39"/>
    </p:embeddedFont>
    <p:embeddedFont>
      <p:font typeface="Arimo Italics" charset="1" panose="020B0604020202090204"/>
      <p:regular r:id="rId40"/>
    </p:embeddedFont>
    <p:embeddedFont>
      <p:font typeface="Asap Bold" charset="1" panose="020F0804030202060203"/>
      <p:regular r:id="rId41"/>
    </p:embeddedFont>
    <p:embeddedFont>
      <p:font typeface="Asap" charset="1" panose="020F0504030202060203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png" Type="http://schemas.openxmlformats.org/officeDocument/2006/relationships/image"/><Relationship Id="rId12" Target="../media/image31.png" Type="http://schemas.openxmlformats.org/officeDocument/2006/relationships/image"/><Relationship Id="rId13" Target="../media/image32.png" Type="http://schemas.openxmlformats.org/officeDocument/2006/relationships/image"/><Relationship Id="rId14" Target="../media/image33.png" Type="http://schemas.openxmlformats.org/officeDocument/2006/relationships/image"/><Relationship Id="rId15" Target="../media/image34.png" Type="http://schemas.openxmlformats.org/officeDocument/2006/relationships/image"/><Relationship Id="rId16" Target="../media/image2.png" Type="http://schemas.openxmlformats.org/officeDocument/2006/relationships/image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79865" y="-7709376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48810" y="0"/>
            <a:ext cx="5066833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1D4ED8"/>
                </a:solidFill>
                <a:latin typeface="Segoe UI Bold"/>
                <a:ea typeface="Segoe UI Bold"/>
                <a:cs typeface="Segoe UI Bold"/>
                <a:sym typeface="Segoe UI Bold"/>
              </a:rPr>
              <a:t>Review 1</a:t>
            </a:r>
          </a:p>
          <a:p>
            <a:pPr algn="ctr">
              <a:lnSpc>
                <a:spcPts val="2702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588419" y="0"/>
            <a:ext cx="190804" cy="4767261"/>
            <a:chOff x="0" y="0"/>
            <a:chExt cx="42795" cy="10692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95" cy="1069236"/>
            </a:xfrm>
            <a:custGeom>
              <a:avLst/>
              <a:gdLst/>
              <a:ahLst/>
              <a:cxnLst/>
              <a:rect r="r" b="b" t="t" l="l"/>
              <a:pathLst>
                <a:path h="1069236" w="42795">
                  <a:moveTo>
                    <a:pt x="21397" y="0"/>
                  </a:moveTo>
                  <a:lnTo>
                    <a:pt x="21397" y="0"/>
                  </a:lnTo>
                  <a:cubicBezTo>
                    <a:pt x="33215" y="0"/>
                    <a:pt x="42795" y="9580"/>
                    <a:pt x="42795" y="21397"/>
                  </a:cubicBezTo>
                  <a:lnTo>
                    <a:pt x="42795" y="1047838"/>
                  </a:lnTo>
                  <a:cubicBezTo>
                    <a:pt x="42795" y="1053513"/>
                    <a:pt x="40541" y="1058956"/>
                    <a:pt x="36528" y="1062968"/>
                  </a:cubicBezTo>
                  <a:cubicBezTo>
                    <a:pt x="32515" y="1066981"/>
                    <a:pt x="27072" y="1069236"/>
                    <a:pt x="21397" y="1069236"/>
                  </a:cubicBezTo>
                  <a:lnTo>
                    <a:pt x="21397" y="1069236"/>
                  </a:lnTo>
                  <a:cubicBezTo>
                    <a:pt x="15723" y="1069236"/>
                    <a:pt x="10280" y="1066981"/>
                    <a:pt x="6267" y="1062968"/>
                  </a:cubicBezTo>
                  <a:cubicBezTo>
                    <a:pt x="2254" y="1058956"/>
                    <a:pt x="0" y="1053513"/>
                    <a:pt x="0" y="1047838"/>
                  </a:cubicBezTo>
                  <a:lnTo>
                    <a:pt x="0" y="21397"/>
                  </a:lnTo>
                  <a:cubicBezTo>
                    <a:pt x="0" y="15723"/>
                    <a:pt x="2254" y="10280"/>
                    <a:pt x="6267" y="6267"/>
                  </a:cubicBezTo>
                  <a:cubicBezTo>
                    <a:pt x="10280" y="2254"/>
                    <a:pt x="15723" y="0"/>
                    <a:pt x="21397" y="0"/>
                  </a:cubicBezTo>
                  <a:close/>
                </a:path>
              </a:pathLst>
            </a:custGeom>
            <a:blipFill>
              <a:blip r:embed="rId4"/>
              <a:stretch>
                <a:fillRect l="-1946523" t="0" r="-1946523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184072" y="0"/>
            <a:ext cx="5103928" cy="2389446"/>
          </a:xfrm>
          <a:custGeom>
            <a:avLst/>
            <a:gdLst/>
            <a:ahLst/>
            <a:cxnLst/>
            <a:rect r="r" b="b" t="t" l="l"/>
            <a:pathLst>
              <a:path h="2389446" w="5103928">
                <a:moveTo>
                  <a:pt x="0" y="0"/>
                </a:moveTo>
                <a:lnTo>
                  <a:pt x="5103928" y="0"/>
                </a:lnTo>
                <a:lnTo>
                  <a:pt x="5103928" y="2389446"/>
                </a:lnTo>
                <a:lnTo>
                  <a:pt x="0" y="23894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48810" y="1792693"/>
            <a:ext cx="15073152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 Machine-Learning Guardrail for </a:t>
            </a:r>
          </a:p>
          <a:p>
            <a:pPr algn="l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Detecting Prompt Injection and Jailbreak Attacks on LLM Applications</a:t>
            </a:r>
          </a:p>
        </p:txBody>
      </p:sp>
      <p:grpSp>
        <p:nvGrpSpPr>
          <p:cNvPr name="Group 10" id="10"/>
          <p:cNvGrpSpPr/>
          <p:nvPr/>
        </p:nvGrpSpPr>
        <p:grpSpPr>
          <a:xfrm rot="5400000">
            <a:off x="9107907" y="2008900"/>
            <a:ext cx="72185" cy="5588908"/>
            <a:chOff x="0" y="0"/>
            <a:chExt cx="13810" cy="10692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10" cy="1069236"/>
            </a:xfrm>
            <a:custGeom>
              <a:avLst/>
              <a:gdLst/>
              <a:ahLst/>
              <a:cxnLst/>
              <a:rect r="r" b="b" t="t" l="l"/>
              <a:pathLst>
                <a:path h="1069236" w="13810">
                  <a:moveTo>
                    <a:pt x="6905" y="0"/>
                  </a:moveTo>
                  <a:lnTo>
                    <a:pt x="6905" y="0"/>
                  </a:lnTo>
                  <a:cubicBezTo>
                    <a:pt x="8736" y="0"/>
                    <a:pt x="10493" y="727"/>
                    <a:pt x="11788" y="2022"/>
                  </a:cubicBezTo>
                  <a:cubicBezTo>
                    <a:pt x="13083" y="3317"/>
                    <a:pt x="13810" y="5074"/>
                    <a:pt x="13810" y="6905"/>
                  </a:cubicBezTo>
                  <a:lnTo>
                    <a:pt x="13810" y="1062331"/>
                  </a:lnTo>
                  <a:cubicBezTo>
                    <a:pt x="13810" y="1066144"/>
                    <a:pt x="10719" y="1069236"/>
                    <a:pt x="6905" y="1069236"/>
                  </a:cubicBezTo>
                  <a:lnTo>
                    <a:pt x="6905" y="1069236"/>
                  </a:lnTo>
                  <a:cubicBezTo>
                    <a:pt x="3091" y="1069236"/>
                    <a:pt x="0" y="1066144"/>
                    <a:pt x="0" y="1062331"/>
                  </a:cubicBezTo>
                  <a:lnTo>
                    <a:pt x="0" y="6905"/>
                  </a:lnTo>
                  <a:cubicBezTo>
                    <a:pt x="0" y="3091"/>
                    <a:pt x="3091" y="0"/>
                    <a:pt x="6905" y="0"/>
                  </a:cubicBezTo>
                  <a:close/>
                </a:path>
              </a:pathLst>
            </a:custGeom>
            <a:blipFill>
              <a:blip r:embed="rId4"/>
              <a:stretch>
                <a:fillRect l="-6136882" t="0" r="-613688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6451165"/>
            <a:ext cx="11106873" cy="285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b="true" sz="3500" strike="noStrike" u="non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Nguyen Van Truong - SE182034</a:t>
            </a:r>
          </a:p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b="true" sz="3500" strike="noStrike" u="non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Nguyen Qui Duc - SE182087</a:t>
            </a:r>
          </a:p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b="true" sz="3500" strike="noStrike" u="non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Pham Minh Hoang Viet - SE181851  </a:t>
            </a:r>
          </a:p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b="true" sz="3500" strike="noStrike" u="non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Do Doan Duy Phuong - SE180235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79865" y="7028503"/>
            <a:ext cx="5798893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35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GROUP CODE: GFA26IA09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79865" y="7868698"/>
            <a:ext cx="5798893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35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SUBJECT CODE: FA26IA09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79865" y="8710073"/>
            <a:ext cx="6710968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0"/>
              </a:lnSpc>
              <a:spcBef>
                <a:spcPct val="0"/>
              </a:spcBef>
            </a:pPr>
            <a:r>
              <a:rPr lang="en-US" b="true" sz="3500" strike="noStrike" u="non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SUPERVISOR: Tran Van Ninh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1092229" y="225738"/>
            <a:ext cx="4989772" cy="0"/>
          </a:xfrm>
          <a:prstGeom prst="line">
            <a:avLst/>
          </a:prstGeom>
          <a:ln cap="rnd" w="38100">
            <a:solidFill>
              <a:srgbClr val="3B82F6"/>
            </a:solidFill>
            <a:prstDash val="sysDash"/>
            <a:headEnd type="diamond" len="lg" w="lg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8071784" y="2181820"/>
            <a:ext cx="0" cy="5829297"/>
          </a:xfrm>
          <a:prstGeom prst="line">
            <a:avLst/>
          </a:prstGeom>
          <a:ln cap="rnd" w="38100">
            <a:solidFill>
              <a:srgbClr val="3B82F6"/>
            </a:solidFill>
            <a:prstDash val="sysDash"/>
            <a:headEnd type="diamond" len="lg" w="lg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true" flipV="false" rot="0">
            <a:off x="16139798" y="203420"/>
            <a:ext cx="1951035" cy="1951035"/>
          </a:xfrm>
          <a:custGeom>
            <a:avLst/>
            <a:gdLst/>
            <a:ahLst/>
            <a:cxnLst/>
            <a:rect r="r" b="b" t="t" l="l"/>
            <a:pathLst>
              <a:path h="1951035" w="1951035">
                <a:moveTo>
                  <a:pt x="1951036" y="0"/>
                </a:moveTo>
                <a:lnTo>
                  <a:pt x="0" y="0"/>
                </a:lnTo>
                <a:lnTo>
                  <a:pt x="0" y="1951035"/>
                </a:lnTo>
                <a:lnTo>
                  <a:pt x="1951036" y="1951035"/>
                </a:lnTo>
                <a:lnTo>
                  <a:pt x="195103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2651760" y="9751482"/>
            <a:ext cx="6492240" cy="0"/>
          </a:xfrm>
          <a:prstGeom prst="line">
            <a:avLst/>
          </a:prstGeom>
          <a:ln cap="rnd" w="38100">
            <a:solidFill>
              <a:srgbClr val="ECE6DB"/>
            </a:solidFill>
            <a:prstDash val="sysDash"/>
            <a:headEnd type="none" len="sm" w="sm"/>
            <a:tailEnd type="diamond" len="lg" w="lg"/>
          </a:ln>
        </p:spPr>
      </p:sp>
      <p:sp>
        <p:nvSpPr>
          <p:cNvPr name="Freeform 20" id="20"/>
          <p:cNvSpPr/>
          <p:nvPr/>
        </p:nvSpPr>
        <p:spPr>
          <a:xfrm flipH="false" flipV="true" rot="0">
            <a:off x="588419" y="7841815"/>
            <a:ext cx="1928717" cy="1928717"/>
          </a:xfrm>
          <a:custGeom>
            <a:avLst/>
            <a:gdLst/>
            <a:ahLst/>
            <a:cxnLst/>
            <a:rect r="r" b="b" t="t" l="l"/>
            <a:pathLst>
              <a:path h="1928717" w="1928717">
                <a:moveTo>
                  <a:pt x="0" y="1928717"/>
                </a:moveTo>
                <a:lnTo>
                  <a:pt x="1928717" y="1928717"/>
                </a:lnTo>
                <a:lnTo>
                  <a:pt x="1928717" y="0"/>
                </a:lnTo>
                <a:lnTo>
                  <a:pt x="0" y="0"/>
                </a:lnTo>
                <a:lnTo>
                  <a:pt x="0" y="1928717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83154" y="-1877026"/>
            <a:ext cx="22188662" cy="18920878"/>
          </a:xfrm>
          <a:custGeom>
            <a:avLst/>
            <a:gdLst/>
            <a:ahLst/>
            <a:cxnLst/>
            <a:rect r="r" b="b" t="t" l="l"/>
            <a:pathLst>
              <a:path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748406" y="4843215"/>
            <a:ext cx="5968175" cy="596817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l="-19923" t="0" r="-19923" b="0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1748406" y="-872200"/>
            <a:ext cx="5968175" cy="596817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l="-19923" t="0" r="-19923" b="0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-784923" y="5826324"/>
            <a:ext cx="4041208" cy="4001957"/>
            <a:chOff x="0" y="0"/>
            <a:chExt cx="1064351" cy="10540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4351" cy="1054013"/>
            </a:xfrm>
            <a:custGeom>
              <a:avLst/>
              <a:gdLst/>
              <a:ahLst/>
              <a:cxnLst/>
              <a:rect r="r" b="b" t="t" l="l"/>
              <a:pathLst>
                <a:path h="1054013" w="1064351">
                  <a:moveTo>
                    <a:pt x="0" y="0"/>
                  </a:moveTo>
                  <a:lnTo>
                    <a:pt x="1064351" y="0"/>
                  </a:lnTo>
                  <a:lnTo>
                    <a:pt x="1064351" y="1054013"/>
                  </a:lnTo>
                  <a:lnTo>
                    <a:pt x="0" y="1054013"/>
                  </a:lnTo>
                  <a:close/>
                </a:path>
              </a:pathLst>
            </a:custGeom>
            <a:solidFill>
              <a:srgbClr val="548BA2">
                <a:alpha val="19608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64351" cy="105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2700000">
            <a:off x="-784923" y="110910"/>
            <a:ext cx="4041208" cy="4001957"/>
            <a:chOff x="0" y="0"/>
            <a:chExt cx="1064351" cy="10540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4351" cy="1054013"/>
            </a:xfrm>
            <a:custGeom>
              <a:avLst/>
              <a:gdLst/>
              <a:ahLst/>
              <a:cxnLst/>
              <a:rect r="r" b="b" t="t" l="l"/>
              <a:pathLst>
                <a:path h="1054013" w="1064351">
                  <a:moveTo>
                    <a:pt x="0" y="0"/>
                  </a:moveTo>
                  <a:lnTo>
                    <a:pt x="1064351" y="0"/>
                  </a:lnTo>
                  <a:lnTo>
                    <a:pt x="1064351" y="1054013"/>
                  </a:lnTo>
                  <a:lnTo>
                    <a:pt x="0" y="1054013"/>
                  </a:lnTo>
                  <a:close/>
                </a:path>
              </a:pathLst>
            </a:custGeom>
            <a:solidFill>
              <a:srgbClr val="548BA2">
                <a:alpha val="19608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064351" cy="105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1859128"/>
            <a:ext cx="5968175" cy="596817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l="-19923" t="0" r="-19923" b="0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2700000">
            <a:off x="963484" y="2842237"/>
            <a:ext cx="4041208" cy="4001957"/>
            <a:chOff x="0" y="0"/>
            <a:chExt cx="1064351" cy="10540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4351" cy="1054013"/>
            </a:xfrm>
            <a:custGeom>
              <a:avLst/>
              <a:gdLst/>
              <a:ahLst/>
              <a:cxnLst/>
              <a:rect r="r" b="b" t="t" l="l"/>
              <a:pathLst>
                <a:path h="1054013" w="1064351">
                  <a:moveTo>
                    <a:pt x="0" y="0"/>
                  </a:moveTo>
                  <a:lnTo>
                    <a:pt x="1064351" y="0"/>
                  </a:lnTo>
                  <a:lnTo>
                    <a:pt x="1064351" y="1054013"/>
                  </a:lnTo>
                  <a:lnTo>
                    <a:pt x="0" y="1054013"/>
                  </a:lnTo>
                  <a:close/>
                </a:path>
              </a:pathLst>
            </a:custGeom>
            <a:solidFill>
              <a:srgbClr val="548BA2">
                <a:alpha val="19608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064351" cy="105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4094381"/>
            <a:ext cx="4039262" cy="1497669"/>
            <a:chOff x="0" y="0"/>
            <a:chExt cx="1376059" cy="5102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6059" cy="510212"/>
            </a:xfrm>
            <a:custGeom>
              <a:avLst/>
              <a:gdLst/>
              <a:ahLst/>
              <a:cxnLst/>
              <a:rect r="r" b="b" t="t" l="l"/>
              <a:pathLst>
                <a:path h="510212" w="1376059">
                  <a:moveTo>
                    <a:pt x="40250" y="0"/>
                  </a:moveTo>
                  <a:lnTo>
                    <a:pt x="1335809" y="0"/>
                  </a:lnTo>
                  <a:cubicBezTo>
                    <a:pt x="1346484" y="0"/>
                    <a:pt x="1356722" y="4241"/>
                    <a:pt x="1364270" y="11789"/>
                  </a:cubicBezTo>
                  <a:cubicBezTo>
                    <a:pt x="1371818" y="19337"/>
                    <a:pt x="1376059" y="29575"/>
                    <a:pt x="1376059" y="40250"/>
                  </a:cubicBezTo>
                  <a:lnTo>
                    <a:pt x="1376059" y="469962"/>
                  </a:lnTo>
                  <a:cubicBezTo>
                    <a:pt x="1376059" y="480637"/>
                    <a:pt x="1371818" y="490875"/>
                    <a:pt x="1364270" y="498423"/>
                  </a:cubicBezTo>
                  <a:cubicBezTo>
                    <a:pt x="1356722" y="505971"/>
                    <a:pt x="1346484" y="510212"/>
                    <a:pt x="1335809" y="510212"/>
                  </a:cubicBezTo>
                  <a:lnTo>
                    <a:pt x="40250" y="510212"/>
                  </a:lnTo>
                  <a:cubicBezTo>
                    <a:pt x="29575" y="510212"/>
                    <a:pt x="19337" y="505971"/>
                    <a:pt x="11789" y="498423"/>
                  </a:cubicBezTo>
                  <a:cubicBezTo>
                    <a:pt x="4241" y="490875"/>
                    <a:pt x="0" y="480637"/>
                    <a:pt x="0" y="469962"/>
                  </a:cubicBezTo>
                  <a:lnTo>
                    <a:pt x="0" y="40250"/>
                  </a:lnTo>
                  <a:cubicBezTo>
                    <a:pt x="0" y="29575"/>
                    <a:pt x="4241" y="19337"/>
                    <a:pt x="11789" y="11789"/>
                  </a:cubicBezTo>
                  <a:cubicBezTo>
                    <a:pt x="19337" y="4241"/>
                    <a:pt x="29575" y="0"/>
                    <a:pt x="40250" y="0"/>
                  </a:cubicBezTo>
                  <a:close/>
                </a:path>
              </a:pathLst>
            </a:custGeom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376059" cy="53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gradFill>
                    <a:gsLst>
                      <a:gs pos="0">
                        <a:srgbClr val="023287">
                          <a:alpha val="85000"/>
                        </a:srgbClr>
                      </a:gs>
                      <a:gs pos="100000">
                        <a:srgbClr val="2B3E60">
                          <a:alpha val="85000"/>
                        </a:srgbClr>
                      </a:gs>
                    </a:gsLst>
                    <a:lin ang="0"/>
                  </a:gradFill>
                  <a:latin typeface="Arimo Bold"/>
                  <a:ea typeface="Arimo Bold"/>
                  <a:cs typeface="Arimo Bold"/>
                  <a:sym typeface="Arimo Bold"/>
                </a:rPr>
                <a:t>AGENDA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657871" y="2191576"/>
            <a:ext cx="787771" cy="53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4"/>
              </a:lnSpc>
            </a:pPr>
            <a:r>
              <a:rPr lang="en-US" b="true" sz="3503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657871" y="-143552"/>
            <a:ext cx="112004" cy="10479055"/>
            <a:chOff x="0" y="0"/>
            <a:chExt cx="11428" cy="10692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428" cy="1069236"/>
            </a:xfrm>
            <a:custGeom>
              <a:avLst/>
              <a:gdLst/>
              <a:ahLst/>
              <a:cxnLst/>
              <a:rect r="r" b="b" t="t" l="l"/>
              <a:pathLst>
                <a:path h="1069236" w="11428">
                  <a:moveTo>
                    <a:pt x="5714" y="0"/>
                  </a:moveTo>
                  <a:lnTo>
                    <a:pt x="5714" y="0"/>
                  </a:lnTo>
                  <a:cubicBezTo>
                    <a:pt x="8870" y="0"/>
                    <a:pt x="11428" y="2558"/>
                    <a:pt x="11428" y="5714"/>
                  </a:cubicBezTo>
                  <a:lnTo>
                    <a:pt x="11428" y="1063521"/>
                  </a:lnTo>
                  <a:cubicBezTo>
                    <a:pt x="11428" y="1066677"/>
                    <a:pt x="8870" y="1069236"/>
                    <a:pt x="5714" y="1069236"/>
                  </a:cubicBezTo>
                  <a:lnTo>
                    <a:pt x="5714" y="1069236"/>
                  </a:lnTo>
                  <a:cubicBezTo>
                    <a:pt x="4199" y="1069236"/>
                    <a:pt x="2745" y="1068634"/>
                    <a:pt x="1674" y="1067562"/>
                  </a:cubicBezTo>
                  <a:cubicBezTo>
                    <a:pt x="602" y="1066490"/>
                    <a:pt x="0" y="1065037"/>
                    <a:pt x="0" y="1063521"/>
                  </a:cubicBezTo>
                  <a:lnTo>
                    <a:pt x="0" y="5714"/>
                  </a:lnTo>
                  <a:cubicBezTo>
                    <a:pt x="0" y="4199"/>
                    <a:pt x="602" y="2745"/>
                    <a:pt x="1674" y="1674"/>
                  </a:cubicBezTo>
                  <a:cubicBezTo>
                    <a:pt x="2745" y="602"/>
                    <a:pt x="4199" y="0"/>
                    <a:pt x="5714" y="0"/>
                  </a:cubicBezTo>
                  <a:close/>
                </a:path>
              </a:pathLst>
            </a:custGeom>
            <a:blipFill>
              <a:blip r:embed="rId5"/>
              <a:stretch>
                <a:fillRect l="-7426252" t="0" r="-7426252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777543" y="0"/>
            <a:ext cx="112004" cy="10479055"/>
            <a:chOff x="0" y="0"/>
            <a:chExt cx="11428" cy="10692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28" cy="1069236"/>
            </a:xfrm>
            <a:custGeom>
              <a:avLst/>
              <a:gdLst/>
              <a:ahLst/>
              <a:cxnLst/>
              <a:rect r="r" b="b" t="t" l="l"/>
              <a:pathLst>
                <a:path h="1069236" w="11428">
                  <a:moveTo>
                    <a:pt x="5714" y="0"/>
                  </a:moveTo>
                  <a:lnTo>
                    <a:pt x="5714" y="0"/>
                  </a:lnTo>
                  <a:cubicBezTo>
                    <a:pt x="8870" y="0"/>
                    <a:pt x="11428" y="2558"/>
                    <a:pt x="11428" y="5714"/>
                  </a:cubicBezTo>
                  <a:lnTo>
                    <a:pt x="11428" y="1063521"/>
                  </a:lnTo>
                  <a:cubicBezTo>
                    <a:pt x="11428" y="1066677"/>
                    <a:pt x="8870" y="1069236"/>
                    <a:pt x="5714" y="1069236"/>
                  </a:cubicBezTo>
                  <a:lnTo>
                    <a:pt x="5714" y="1069236"/>
                  </a:lnTo>
                  <a:cubicBezTo>
                    <a:pt x="4199" y="1069236"/>
                    <a:pt x="2745" y="1068634"/>
                    <a:pt x="1674" y="1067562"/>
                  </a:cubicBezTo>
                  <a:cubicBezTo>
                    <a:pt x="602" y="1066490"/>
                    <a:pt x="0" y="1065037"/>
                    <a:pt x="0" y="1063521"/>
                  </a:cubicBezTo>
                  <a:lnTo>
                    <a:pt x="0" y="5714"/>
                  </a:lnTo>
                  <a:cubicBezTo>
                    <a:pt x="0" y="4199"/>
                    <a:pt x="602" y="2745"/>
                    <a:pt x="1674" y="1674"/>
                  </a:cubicBezTo>
                  <a:cubicBezTo>
                    <a:pt x="2745" y="602"/>
                    <a:pt x="4199" y="0"/>
                    <a:pt x="5714" y="0"/>
                  </a:cubicBezTo>
                  <a:close/>
                </a:path>
              </a:pathLst>
            </a:custGeom>
            <a:blipFill>
              <a:blip r:embed="rId5"/>
              <a:stretch>
                <a:fillRect l="-7426252" t="0" r="-7426252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769875" y="0"/>
            <a:ext cx="9007669" cy="10287000"/>
            <a:chOff x="0" y="0"/>
            <a:chExt cx="2372390" cy="270933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7239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72390">
                  <a:moveTo>
                    <a:pt x="0" y="0"/>
                  </a:moveTo>
                  <a:lnTo>
                    <a:pt x="2372390" y="0"/>
                  </a:lnTo>
                  <a:lnTo>
                    <a:pt x="2372390" y="2709333"/>
                  </a:lnTo>
                  <a:lnTo>
                    <a:pt x="0" y="2709333"/>
                  </a:lnTo>
                  <a:close/>
                </a:path>
              </a:pathLst>
            </a:custGeom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372390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769875" y="0"/>
            <a:ext cx="9007669" cy="10287000"/>
            <a:chOff x="0" y="0"/>
            <a:chExt cx="2372390" cy="270933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7239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72390">
                  <a:moveTo>
                    <a:pt x="0" y="0"/>
                  </a:moveTo>
                  <a:lnTo>
                    <a:pt x="2372390" y="0"/>
                  </a:lnTo>
                  <a:lnTo>
                    <a:pt x="237239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48BA2">
                <a:alpha val="9804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372390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445896" y="2283895"/>
            <a:ext cx="7655626" cy="5719210"/>
            <a:chOff x="0" y="0"/>
            <a:chExt cx="10207501" cy="7625614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1001787" y="-19050"/>
              <a:ext cx="9205714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555555">
                          <a:alpha val="100000"/>
                        </a:srgbClr>
                      </a:gs>
                    </a:gsLst>
                    <a:lin ang="0"/>
                  </a:gradFill>
                  <a:latin typeface="Arimo"/>
                  <a:ea typeface="Arimo"/>
                  <a:cs typeface="Arimo"/>
                  <a:sym typeface="Arimo"/>
                </a:rPr>
                <a:t>Threat Landscape &amp; Problem Statement</a:t>
              </a:r>
              <a:r>
                <a:rPr lang="en-US" b="true" sz="300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555555">
                          <a:alpha val="100000"/>
                        </a:srgbClr>
                      </a:gs>
                    </a:gsLst>
                    <a:lin ang="0"/>
                  </a:gra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001787" y="1739164"/>
              <a:ext cx="6851253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SOTA Guardrails &amp; Limitations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-19050"/>
              <a:ext cx="56515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01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1739164"/>
              <a:ext cx="56515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02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001787" y="5244364"/>
              <a:ext cx="790614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Empirical Evaluation &amp; Robustness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0" y="3491764"/>
              <a:ext cx="56515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03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001787" y="3491764"/>
              <a:ext cx="7087195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Proposed Two-Tier Architecture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0" y="5244364"/>
              <a:ext cx="56515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04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1001787" y="6996964"/>
              <a:ext cx="533697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Conclusion &amp; Roadmap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0" y="6996964"/>
              <a:ext cx="56515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28634" y="-1931546"/>
            <a:ext cx="22188662" cy="18920878"/>
          </a:xfrm>
          <a:custGeom>
            <a:avLst/>
            <a:gdLst/>
            <a:ahLst/>
            <a:cxnLst/>
            <a:rect r="r" b="b" t="t" l="l"/>
            <a:pathLst>
              <a:path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42189" y="6507438"/>
            <a:ext cx="4711673" cy="3263094"/>
            <a:chOff x="0" y="0"/>
            <a:chExt cx="1605130" cy="11116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05130" cy="1111641"/>
            </a:xfrm>
            <a:custGeom>
              <a:avLst/>
              <a:gdLst/>
              <a:ahLst/>
              <a:cxnLst/>
              <a:rect r="r" b="b" t="t" l="l"/>
              <a:pathLst>
                <a:path h="1111641" w="1605130">
                  <a:moveTo>
                    <a:pt x="34506" y="0"/>
                  </a:moveTo>
                  <a:lnTo>
                    <a:pt x="1570624" y="0"/>
                  </a:lnTo>
                  <a:cubicBezTo>
                    <a:pt x="1589681" y="0"/>
                    <a:pt x="1605130" y="15449"/>
                    <a:pt x="1605130" y="34506"/>
                  </a:cubicBezTo>
                  <a:lnTo>
                    <a:pt x="1605130" y="1077135"/>
                  </a:lnTo>
                  <a:cubicBezTo>
                    <a:pt x="1605130" y="1086287"/>
                    <a:pt x="1601495" y="1095064"/>
                    <a:pt x="1595023" y="1101535"/>
                  </a:cubicBezTo>
                  <a:cubicBezTo>
                    <a:pt x="1588552" y="1108006"/>
                    <a:pt x="1579776" y="1111641"/>
                    <a:pt x="1570624" y="1111641"/>
                  </a:cubicBezTo>
                  <a:lnTo>
                    <a:pt x="34506" y="1111641"/>
                  </a:lnTo>
                  <a:cubicBezTo>
                    <a:pt x="15449" y="1111641"/>
                    <a:pt x="0" y="1096192"/>
                    <a:pt x="0" y="1077135"/>
                  </a:cubicBezTo>
                  <a:lnTo>
                    <a:pt x="0" y="34506"/>
                  </a:lnTo>
                  <a:cubicBezTo>
                    <a:pt x="0" y="15449"/>
                    <a:pt x="15449" y="0"/>
                    <a:pt x="34506" y="0"/>
                  </a:cubicBezTo>
                  <a:close/>
                </a:path>
              </a:pathLst>
            </a:custGeom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0"/>
              <a:ext cx="1605130" cy="1302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800"/>
                </a:lnSpc>
              </a:pPr>
              <a:r>
                <a:rPr lang="en-US" b="true" sz="9000">
                  <a:gradFill>
                    <a:gsLst>
                      <a:gs pos="0">
                        <a:srgbClr val="023287">
                          <a:alpha val="85000"/>
                        </a:srgbClr>
                      </a:gs>
                      <a:gs pos="100000">
                        <a:srgbClr val="2B3E60">
                          <a:alpha val="85000"/>
                        </a:srgbClr>
                      </a:gs>
                    </a:gsLst>
                    <a:lin ang="0"/>
                  </a:gradFill>
                  <a:latin typeface="Calibri (MS) Bold"/>
                  <a:ea typeface="Calibri (MS) Bold"/>
                  <a:cs typeface="Calibri (MS) Bold"/>
                  <a:sym typeface="Calibri (MS) Bold"/>
                </a:rPr>
                <a:t>LIST OF</a:t>
              </a:r>
            </a:p>
            <a:p>
              <a:pPr algn="ctr" marL="0" indent="0" lvl="0">
                <a:lnSpc>
                  <a:spcPts val="10800"/>
                </a:lnSpc>
                <a:spcBef>
                  <a:spcPct val="0"/>
                </a:spcBef>
              </a:pPr>
              <a:r>
                <a:rPr lang="en-US" b="true" sz="9000">
                  <a:gradFill>
                    <a:gsLst>
                      <a:gs pos="0">
                        <a:srgbClr val="023287">
                          <a:alpha val="85000"/>
                        </a:srgbClr>
                      </a:gs>
                      <a:gs pos="100000">
                        <a:srgbClr val="2B3E60">
                          <a:alpha val="85000"/>
                        </a:srgbClr>
                      </a:gs>
                    </a:gsLst>
                    <a:lin ang="0"/>
                  </a:gradFill>
                  <a:latin typeface="Calibri (MS) Bold"/>
                  <a:ea typeface="Calibri (MS) Bold"/>
                  <a:cs typeface="Calibri (MS) Bold"/>
                  <a:sym typeface="Calibri (MS) Bold"/>
                </a:rPr>
                <a:t>COTENT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657871" y="2191576"/>
            <a:ext cx="787771" cy="53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4"/>
              </a:lnSpc>
            </a:pPr>
            <a:r>
              <a:rPr lang="en-US" b="true" sz="3503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657871" y="-143552"/>
            <a:ext cx="112004" cy="10479055"/>
            <a:chOff x="0" y="0"/>
            <a:chExt cx="11428" cy="10692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28" cy="1069236"/>
            </a:xfrm>
            <a:custGeom>
              <a:avLst/>
              <a:gdLst/>
              <a:ahLst/>
              <a:cxnLst/>
              <a:rect r="r" b="b" t="t" l="l"/>
              <a:pathLst>
                <a:path h="1069236" w="11428">
                  <a:moveTo>
                    <a:pt x="5714" y="0"/>
                  </a:moveTo>
                  <a:lnTo>
                    <a:pt x="5714" y="0"/>
                  </a:lnTo>
                  <a:cubicBezTo>
                    <a:pt x="8870" y="0"/>
                    <a:pt x="11428" y="2558"/>
                    <a:pt x="11428" y="5714"/>
                  </a:cubicBezTo>
                  <a:lnTo>
                    <a:pt x="11428" y="1063521"/>
                  </a:lnTo>
                  <a:cubicBezTo>
                    <a:pt x="11428" y="1066677"/>
                    <a:pt x="8870" y="1069236"/>
                    <a:pt x="5714" y="1069236"/>
                  </a:cubicBezTo>
                  <a:lnTo>
                    <a:pt x="5714" y="1069236"/>
                  </a:lnTo>
                  <a:cubicBezTo>
                    <a:pt x="4199" y="1069236"/>
                    <a:pt x="2745" y="1068634"/>
                    <a:pt x="1674" y="1067562"/>
                  </a:cubicBezTo>
                  <a:cubicBezTo>
                    <a:pt x="602" y="1066490"/>
                    <a:pt x="0" y="1065037"/>
                    <a:pt x="0" y="1063521"/>
                  </a:cubicBezTo>
                  <a:lnTo>
                    <a:pt x="0" y="5714"/>
                  </a:lnTo>
                  <a:cubicBezTo>
                    <a:pt x="0" y="4199"/>
                    <a:pt x="602" y="2745"/>
                    <a:pt x="1674" y="1674"/>
                  </a:cubicBezTo>
                  <a:cubicBezTo>
                    <a:pt x="2745" y="602"/>
                    <a:pt x="4199" y="0"/>
                    <a:pt x="5714" y="0"/>
                  </a:cubicBezTo>
                  <a:close/>
                </a:path>
              </a:pathLst>
            </a:custGeom>
            <a:blipFill>
              <a:blip r:embed="rId4"/>
              <a:stretch>
                <a:fillRect l="-7426252" t="0" r="-742625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777543" y="0"/>
            <a:ext cx="112004" cy="10479055"/>
            <a:chOff x="0" y="0"/>
            <a:chExt cx="11428" cy="10692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28" cy="1069236"/>
            </a:xfrm>
            <a:custGeom>
              <a:avLst/>
              <a:gdLst/>
              <a:ahLst/>
              <a:cxnLst/>
              <a:rect r="r" b="b" t="t" l="l"/>
              <a:pathLst>
                <a:path h="1069236" w="11428">
                  <a:moveTo>
                    <a:pt x="5714" y="0"/>
                  </a:moveTo>
                  <a:lnTo>
                    <a:pt x="5714" y="0"/>
                  </a:lnTo>
                  <a:cubicBezTo>
                    <a:pt x="8870" y="0"/>
                    <a:pt x="11428" y="2558"/>
                    <a:pt x="11428" y="5714"/>
                  </a:cubicBezTo>
                  <a:lnTo>
                    <a:pt x="11428" y="1063521"/>
                  </a:lnTo>
                  <a:cubicBezTo>
                    <a:pt x="11428" y="1066677"/>
                    <a:pt x="8870" y="1069236"/>
                    <a:pt x="5714" y="1069236"/>
                  </a:cubicBezTo>
                  <a:lnTo>
                    <a:pt x="5714" y="1069236"/>
                  </a:lnTo>
                  <a:cubicBezTo>
                    <a:pt x="4199" y="1069236"/>
                    <a:pt x="2745" y="1068634"/>
                    <a:pt x="1674" y="1067562"/>
                  </a:cubicBezTo>
                  <a:cubicBezTo>
                    <a:pt x="602" y="1066490"/>
                    <a:pt x="0" y="1065037"/>
                    <a:pt x="0" y="1063521"/>
                  </a:cubicBezTo>
                  <a:lnTo>
                    <a:pt x="0" y="5714"/>
                  </a:lnTo>
                  <a:cubicBezTo>
                    <a:pt x="0" y="4199"/>
                    <a:pt x="602" y="2745"/>
                    <a:pt x="1674" y="1674"/>
                  </a:cubicBezTo>
                  <a:cubicBezTo>
                    <a:pt x="2745" y="602"/>
                    <a:pt x="4199" y="0"/>
                    <a:pt x="5714" y="0"/>
                  </a:cubicBezTo>
                  <a:close/>
                </a:path>
              </a:pathLst>
            </a:custGeom>
            <a:blipFill>
              <a:blip r:embed="rId4"/>
              <a:stretch>
                <a:fillRect l="-7426252" t="0" r="-7426252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769875" y="0"/>
            <a:ext cx="9007669" cy="10287000"/>
            <a:chOff x="0" y="0"/>
            <a:chExt cx="2372390" cy="27093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7239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72390">
                  <a:moveTo>
                    <a:pt x="0" y="0"/>
                  </a:moveTo>
                  <a:lnTo>
                    <a:pt x="2372390" y="0"/>
                  </a:lnTo>
                  <a:lnTo>
                    <a:pt x="2372390" y="2709333"/>
                  </a:lnTo>
                  <a:lnTo>
                    <a:pt x="0" y="2709333"/>
                  </a:lnTo>
                  <a:close/>
                </a:path>
              </a:pathLst>
            </a:custGeom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372390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769875" y="0"/>
            <a:ext cx="9007669" cy="10287000"/>
            <a:chOff x="0" y="0"/>
            <a:chExt cx="2372390" cy="27093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7239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72390">
                  <a:moveTo>
                    <a:pt x="0" y="0"/>
                  </a:moveTo>
                  <a:lnTo>
                    <a:pt x="2372390" y="0"/>
                  </a:lnTo>
                  <a:lnTo>
                    <a:pt x="237239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48BA2">
                <a:alpha val="9804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372390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>
            <a:off x="2397500" y="2452009"/>
            <a:ext cx="5001865" cy="7318522"/>
          </a:xfrm>
          <a:custGeom>
            <a:avLst/>
            <a:gdLst/>
            <a:ahLst/>
            <a:cxnLst/>
            <a:rect r="r" b="b" t="t" l="l"/>
            <a:pathLst>
              <a:path h="7318522" w="5001865">
                <a:moveTo>
                  <a:pt x="0" y="7318523"/>
                </a:moveTo>
                <a:lnTo>
                  <a:pt x="3665158" y="7318523"/>
                </a:lnTo>
                <a:cubicBezTo>
                  <a:pt x="3725787" y="7318523"/>
                  <a:pt x="3783932" y="7294438"/>
                  <a:pt x="3826803" y="7251567"/>
                </a:cubicBezTo>
                <a:cubicBezTo>
                  <a:pt x="3869674" y="7208697"/>
                  <a:pt x="3893758" y="7150551"/>
                  <a:pt x="3893758" y="7089923"/>
                </a:cubicBezTo>
                <a:lnTo>
                  <a:pt x="3893758" y="228600"/>
                </a:lnTo>
                <a:cubicBezTo>
                  <a:pt x="3893758" y="167972"/>
                  <a:pt x="3917843" y="109827"/>
                  <a:pt x="3960713" y="66956"/>
                </a:cubicBezTo>
                <a:cubicBezTo>
                  <a:pt x="4003584" y="24085"/>
                  <a:pt x="4061730" y="0"/>
                  <a:pt x="4122359" y="0"/>
                </a:cubicBezTo>
                <a:lnTo>
                  <a:pt x="5001865" y="0"/>
                </a:lnTo>
              </a:path>
            </a:pathLst>
          </a:custGeom>
          <a:ln cap="rnd" w="38100">
            <a:solidFill>
              <a:srgbClr val="475569"/>
            </a:solidFill>
            <a:prstDash val="sysDash"/>
            <a:headEnd type="none" len="sm" w="sm"/>
            <a:tailEnd type="diamond" len="lg" w="lg"/>
          </a:ln>
        </p:spPr>
      </p:sp>
      <p:sp>
        <p:nvSpPr>
          <p:cNvPr name="Freeform 19" id="19"/>
          <p:cNvSpPr/>
          <p:nvPr/>
        </p:nvSpPr>
        <p:spPr>
          <a:xfrm flipH="false" flipV="true" rot="0">
            <a:off x="315164" y="7841815"/>
            <a:ext cx="1928717" cy="1928717"/>
          </a:xfrm>
          <a:custGeom>
            <a:avLst/>
            <a:gdLst/>
            <a:ahLst/>
            <a:cxnLst/>
            <a:rect r="r" b="b" t="t" l="l"/>
            <a:pathLst>
              <a:path h="1928717" w="1928717">
                <a:moveTo>
                  <a:pt x="0" y="1928717"/>
                </a:moveTo>
                <a:lnTo>
                  <a:pt x="1928717" y="1928717"/>
                </a:lnTo>
                <a:lnTo>
                  <a:pt x="1928717" y="0"/>
                </a:lnTo>
                <a:lnTo>
                  <a:pt x="0" y="0"/>
                </a:lnTo>
                <a:lnTo>
                  <a:pt x="0" y="192871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8445896" y="2283895"/>
            <a:ext cx="7655626" cy="5719210"/>
            <a:chOff x="0" y="0"/>
            <a:chExt cx="10207501" cy="7625614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1001787" y="-19050"/>
              <a:ext cx="9205714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555555">
                          <a:alpha val="100000"/>
                        </a:srgbClr>
                      </a:gs>
                    </a:gsLst>
                    <a:lin ang="0"/>
                  </a:gradFill>
                  <a:latin typeface="Arimo"/>
                  <a:ea typeface="Arimo"/>
                  <a:cs typeface="Arimo"/>
                  <a:sym typeface="Arimo"/>
                </a:rPr>
                <a:t>Threat Landscape &amp; Problem Statement</a:t>
              </a:r>
              <a:r>
                <a:rPr lang="en-US" b="true" sz="300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555555">
                          <a:alpha val="100000"/>
                        </a:srgbClr>
                      </a:gs>
                    </a:gsLst>
                    <a:lin ang="0"/>
                  </a:gra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001787" y="1739164"/>
              <a:ext cx="6851253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SOTA Guardrails &amp; Limitations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19050"/>
              <a:ext cx="56515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01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1739164"/>
              <a:ext cx="56515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02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001787" y="5244364"/>
              <a:ext cx="790614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Empirical Evaluation &amp; Robustness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3491764"/>
              <a:ext cx="56515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03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001787" y="3491764"/>
              <a:ext cx="7087195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Proposed Two-Tier Architecture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5244364"/>
              <a:ext cx="56515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04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001787" y="6996964"/>
              <a:ext cx="533697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Conclusion &amp; Roadmap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6996964"/>
              <a:ext cx="56515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05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728426" y="1082670"/>
            <a:ext cx="2939199" cy="3285690"/>
          </a:xfrm>
          <a:custGeom>
            <a:avLst/>
            <a:gdLst/>
            <a:ahLst/>
            <a:cxnLst/>
            <a:rect r="r" b="b" t="t" l="l"/>
            <a:pathLst>
              <a:path h="3285690" w="2939199">
                <a:moveTo>
                  <a:pt x="0" y="0"/>
                </a:moveTo>
                <a:lnTo>
                  <a:pt x="2939200" y="0"/>
                </a:lnTo>
                <a:lnTo>
                  <a:pt x="2939200" y="3285690"/>
                </a:lnTo>
                <a:lnTo>
                  <a:pt x="0" y="32856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392460" y="1564418"/>
            <a:ext cx="1611132" cy="2249042"/>
          </a:xfrm>
          <a:custGeom>
            <a:avLst/>
            <a:gdLst/>
            <a:ahLst/>
            <a:cxnLst/>
            <a:rect r="r" b="b" t="t" l="l"/>
            <a:pathLst>
              <a:path h="2249042" w="1611132">
                <a:moveTo>
                  <a:pt x="0" y="0"/>
                </a:moveTo>
                <a:lnTo>
                  <a:pt x="1611132" y="0"/>
                </a:lnTo>
                <a:lnTo>
                  <a:pt x="1611132" y="2249043"/>
                </a:lnTo>
                <a:lnTo>
                  <a:pt x="0" y="22490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359792" y="-8097941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01436" y="449142"/>
            <a:ext cx="1331712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2563E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RESEARCH</a:t>
            </a:r>
            <a:r>
              <a:rPr lang="en-US" sz="1650" b="true">
                <a:solidFill>
                  <a:srgbClr val="2563E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CONTEXT &amp; VULNERABILITY ROOT CAUSE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1436" y="789041"/>
            <a:ext cx="14937124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LLM Security Crisis &amp; The Von Neumann Bottleneck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144000" y="4475520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3752" y="2047738"/>
            <a:ext cx="16495548" cy="7079197"/>
            <a:chOff x="0" y="0"/>
            <a:chExt cx="4344507" cy="18644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44507" cy="1864480"/>
            </a:xfrm>
            <a:custGeom>
              <a:avLst/>
              <a:gdLst/>
              <a:ahLst/>
              <a:cxnLst/>
              <a:rect r="r" b="b" t="t" l="l"/>
              <a:pathLst>
                <a:path h="1864480" w="4344507">
                  <a:moveTo>
                    <a:pt x="43648" y="0"/>
                  </a:moveTo>
                  <a:lnTo>
                    <a:pt x="4300858" y="0"/>
                  </a:lnTo>
                  <a:cubicBezTo>
                    <a:pt x="4312435" y="0"/>
                    <a:pt x="4323537" y="4599"/>
                    <a:pt x="4331722" y="12784"/>
                  </a:cubicBezTo>
                  <a:cubicBezTo>
                    <a:pt x="4339908" y="20970"/>
                    <a:pt x="4344507" y="32072"/>
                    <a:pt x="4344507" y="43648"/>
                  </a:cubicBezTo>
                  <a:lnTo>
                    <a:pt x="4344507" y="1820832"/>
                  </a:lnTo>
                  <a:cubicBezTo>
                    <a:pt x="4344507" y="1844938"/>
                    <a:pt x="4324965" y="1864480"/>
                    <a:pt x="4300858" y="1864480"/>
                  </a:cubicBezTo>
                  <a:lnTo>
                    <a:pt x="43648" y="1864480"/>
                  </a:lnTo>
                  <a:cubicBezTo>
                    <a:pt x="32072" y="1864480"/>
                    <a:pt x="20970" y="1859881"/>
                    <a:pt x="12784" y="1851696"/>
                  </a:cubicBezTo>
                  <a:cubicBezTo>
                    <a:pt x="4599" y="1843510"/>
                    <a:pt x="0" y="1832408"/>
                    <a:pt x="0" y="1820832"/>
                  </a:cubicBezTo>
                  <a:lnTo>
                    <a:pt x="0" y="43648"/>
                  </a:lnTo>
                  <a:cubicBezTo>
                    <a:pt x="0" y="19542"/>
                    <a:pt x="19542" y="0"/>
                    <a:pt x="4364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B1D6">
                    <a:alpha val="90000"/>
                  </a:srgbClr>
                </a:gs>
                <a:gs pos="100000">
                  <a:srgbClr val="4C5E86">
                    <a:alpha val="90000"/>
                  </a:srgbClr>
                </a:gs>
              </a:gsLst>
              <a:lin ang="0"/>
            </a:gradFill>
            <a:ln w="19050" cap="rnd">
              <a:solidFill>
                <a:srgbClr val="D0D7DD">
                  <a:alpha val="89804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344507" cy="1893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6775808" y="2427821"/>
            <a:ext cx="0" cy="6319031"/>
          </a:xfrm>
          <a:prstGeom prst="line">
            <a:avLst/>
          </a:prstGeom>
          <a:ln cap="flat" w="19050">
            <a:solidFill>
              <a:srgbClr val="D0D7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056842" y="3222789"/>
            <a:ext cx="5553037" cy="0"/>
          </a:xfrm>
          <a:prstGeom prst="line">
            <a:avLst/>
          </a:prstGeom>
          <a:ln cap="flat" w="19050">
            <a:solidFill>
              <a:srgbClr val="D0D7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941736" y="3232314"/>
            <a:ext cx="4928071" cy="0"/>
          </a:xfrm>
          <a:prstGeom prst="line">
            <a:avLst/>
          </a:prstGeom>
          <a:ln cap="flat" w="19050">
            <a:solidFill>
              <a:srgbClr val="D0D7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354519" y="2391537"/>
            <a:ext cx="4802164" cy="998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9"/>
              </a:lnSpc>
            </a:pPr>
            <a:r>
              <a:rPr lang="en-US" sz="3999" spc="-187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AGENTIC THREAT AI</a:t>
            </a:r>
          </a:p>
          <a:p>
            <a:pPr algn="l">
              <a:lnSpc>
                <a:spcPts val="375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397907" y="2223934"/>
            <a:ext cx="3802997" cy="998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59"/>
              </a:lnSpc>
              <a:spcBef>
                <a:spcPct val="0"/>
              </a:spcBef>
            </a:pPr>
            <a:r>
              <a:rPr lang="en-US" b="true" sz="3999" spc="-18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VON NEUMANN</a:t>
            </a:r>
            <a:r>
              <a:rPr lang="en-US" b="true" sz="3999" spc="-187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true" sz="3999" spc="-187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BOTTLENE</a:t>
            </a:r>
            <a:r>
              <a:rPr lang="en-US" b="true" sz="3999" spc="-187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</a:t>
            </a:r>
            <a:r>
              <a:rPr lang="en-US" b="true" sz="3999" spc="-187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3314" y="3677431"/>
            <a:ext cx="4304117" cy="102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spc="-13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OWASP LLM01:2025</a:t>
            </a:r>
          </a:p>
          <a:p>
            <a:pPr algn="l">
              <a:lnSpc>
                <a:spcPts val="4060"/>
              </a:lnSpc>
            </a:pPr>
            <a:r>
              <a:rPr lang="en-US" sz="2900" spc="-13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#1 Global AI Security Threat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82802" y="3570116"/>
            <a:ext cx="4663292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-18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X = S || U </a:t>
            </a:r>
          </a:p>
          <a:p>
            <a:pPr algn="ctr">
              <a:lnSpc>
                <a:spcPts val="4060"/>
              </a:lnSpc>
            </a:pPr>
            <a:r>
              <a:rPr lang="en-US" sz="2900" spc="-13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(Flat Token Space)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3314" y="5395385"/>
            <a:ext cx="4811455" cy="102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spc="-13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Autonomous Tool Calling: </a:t>
            </a:r>
          </a:p>
          <a:p>
            <a:pPr algn="l">
              <a:lnSpc>
                <a:spcPts val="4060"/>
              </a:lnSpc>
            </a:pPr>
            <a:r>
              <a:rPr lang="en-US" sz="2900" spc="-13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Prompt Injection ⮕ RCE Exploit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3314" y="7036225"/>
            <a:ext cx="4941616" cy="102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spc="-13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Ingress Vulnerability: </a:t>
            </a:r>
          </a:p>
          <a:p>
            <a:pPr algn="l">
              <a:lnSpc>
                <a:spcPts val="4060"/>
              </a:lnSpc>
            </a:pPr>
            <a:r>
              <a:rPr lang="en-US" sz="2900" spc="-13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Zero Access Control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97907" y="7036225"/>
            <a:ext cx="4327020" cy="102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spc="-13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Zero Hardware NX-Bit</a:t>
            </a:r>
            <a:r>
              <a:rPr lang="en-US" sz="2900" spc="-13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4060"/>
              </a:lnSpc>
            </a:pPr>
            <a:r>
              <a:rPr lang="en-US" sz="2900" spc="-13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 Privilege Separation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97907" y="5395385"/>
            <a:ext cx="3424189" cy="102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spc="-13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Instruction &amp; Data</a:t>
            </a:r>
          </a:p>
          <a:p>
            <a:pPr algn="l">
              <a:lnSpc>
                <a:spcPts val="4060"/>
              </a:lnSpc>
            </a:pPr>
            <a:r>
              <a:rPr lang="en-US" sz="2900" spc="-13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 Security Boundary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74584" y="2223934"/>
            <a:ext cx="3682502" cy="998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59"/>
              </a:lnSpc>
              <a:spcBef>
                <a:spcPct val="0"/>
              </a:spcBef>
            </a:pPr>
            <a:r>
              <a:rPr lang="en-US" b="true" sz="3999" spc="-18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PREREQUISITE</a:t>
            </a:r>
            <a:r>
              <a:rPr lang="en-US" b="true" sz="3999" spc="-187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  <a:p>
            <a:pPr algn="ctr" marL="0" indent="0" lvl="0">
              <a:lnSpc>
                <a:spcPts val="3759"/>
              </a:lnSpc>
              <a:spcBef>
                <a:spcPct val="0"/>
              </a:spcBef>
            </a:pPr>
            <a:r>
              <a:rPr lang="en-US" b="true" sz="3999" spc="-187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DEFENSE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2079358" y="2427821"/>
            <a:ext cx="0" cy="6319031"/>
          </a:xfrm>
          <a:prstGeom prst="line">
            <a:avLst/>
          </a:prstGeom>
          <a:ln cap="flat" w="19050">
            <a:solidFill>
              <a:srgbClr val="D0D7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12212708" y="3232314"/>
            <a:ext cx="4523607" cy="0"/>
          </a:xfrm>
          <a:prstGeom prst="line">
            <a:avLst/>
          </a:prstGeom>
          <a:ln cap="flat" w="19050">
            <a:solidFill>
              <a:srgbClr val="D0D7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2431783" y="3677431"/>
            <a:ext cx="3781258" cy="102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spc="-13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External Ingress Proxy</a:t>
            </a:r>
          </a:p>
          <a:p>
            <a:pPr algn="l">
              <a:lnSpc>
                <a:spcPts val="4060"/>
              </a:lnSpc>
            </a:pPr>
            <a:r>
              <a:rPr lang="en-US" sz="2900" spc="-13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Standalone API Gateway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31783" y="5395385"/>
            <a:ext cx="3996582" cy="102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spc="-13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Text-Level Pre-Filtering I</a:t>
            </a:r>
            <a:r>
              <a:rPr lang="en-US" sz="2900" spc="-13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nspection Before LLM Call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31783" y="7036225"/>
            <a:ext cx="4425313" cy="102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spc="-13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Compute Economics</a:t>
            </a:r>
          </a:p>
          <a:p>
            <a:pPr algn="l">
              <a:lnSpc>
                <a:spcPts val="4060"/>
              </a:lnSpc>
            </a:pPr>
            <a:r>
              <a:rPr lang="en-US" sz="2900" spc="-13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100% Wasted Token Savings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85879" y="5400675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6781" y="2437793"/>
            <a:ext cx="8072438" cy="5984527"/>
            <a:chOff x="0" y="0"/>
            <a:chExt cx="10763250" cy="79793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63250" cy="7979369"/>
            </a:xfrm>
            <a:custGeom>
              <a:avLst/>
              <a:gdLst/>
              <a:ahLst/>
              <a:cxnLst/>
              <a:rect r="r" b="b" t="t" l="l"/>
              <a:pathLst>
                <a:path h="7979369" w="10763250">
                  <a:moveTo>
                    <a:pt x="0" y="289347"/>
                  </a:moveTo>
                  <a:cubicBezTo>
                    <a:pt x="0" y="129484"/>
                    <a:pt x="119634" y="0"/>
                    <a:pt x="267335" y="0"/>
                  </a:cubicBezTo>
                  <a:lnTo>
                    <a:pt x="10495915" y="0"/>
                  </a:lnTo>
                  <a:cubicBezTo>
                    <a:pt x="10643616" y="0"/>
                    <a:pt x="10763250" y="129484"/>
                    <a:pt x="10763250" y="289347"/>
                  </a:cubicBezTo>
                  <a:lnTo>
                    <a:pt x="10763250" y="7690023"/>
                  </a:lnTo>
                  <a:cubicBezTo>
                    <a:pt x="10763250" y="7849885"/>
                    <a:pt x="10643616" y="7979369"/>
                    <a:pt x="10495915" y="7979369"/>
                  </a:cubicBezTo>
                  <a:lnTo>
                    <a:pt x="267335" y="7979369"/>
                  </a:lnTo>
                  <a:cubicBezTo>
                    <a:pt x="119634" y="7979369"/>
                    <a:pt x="0" y="7849885"/>
                    <a:pt x="0" y="7690023"/>
                  </a:cubicBezTo>
                  <a:close/>
                </a:path>
              </a:pathLst>
            </a:custGeom>
            <a:solidFill>
              <a:srgbClr val="E0F2FE"/>
            </a:solidFill>
            <a:ln w="66675" cap="sq">
              <a:solidFill>
                <a:srgbClr val="BFDBFE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379865" y="-7709376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608344" y="2437793"/>
            <a:ext cx="7650956" cy="5984527"/>
            <a:chOff x="0" y="0"/>
            <a:chExt cx="10763250" cy="84189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63250" cy="8418942"/>
            </a:xfrm>
            <a:custGeom>
              <a:avLst/>
              <a:gdLst/>
              <a:ahLst/>
              <a:cxnLst/>
              <a:rect r="r" b="b" t="t" l="l"/>
              <a:pathLst>
                <a:path h="8418942" w="10763250">
                  <a:moveTo>
                    <a:pt x="0" y="305286"/>
                  </a:moveTo>
                  <a:cubicBezTo>
                    <a:pt x="0" y="136617"/>
                    <a:pt x="119634" y="0"/>
                    <a:pt x="267335" y="0"/>
                  </a:cubicBezTo>
                  <a:lnTo>
                    <a:pt x="10495915" y="0"/>
                  </a:lnTo>
                  <a:cubicBezTo>
                    <a:pt x="10643616" y="0"/>
                    <a:pt x="10763250" y="136617"/>
                    <a:pt x="10763250" y="305286"/>
                  </a:cubicBezTo>
                  <a:lnTo>
                    <a:pt x="10763250" y="8113656"/>
                  </a:lnTo>
                  <a:cubicBezTo>
                    <a:pt x="10763250" y="8282325"/>
                    <a:pt x="10643616" y="8418942"/>
                    <a:pt x="10495915" y="8418942"/>
                  </a:cubicBezTo>
                  <a:lnTo>
                    <a:pt x="267335" y="8418942"/>
                  </a:lnTo>
                  <a:cubicBezTo>
                    <a:pt x="119634" y="8418942"/>
                    <a:pt x="0" y="8282325"/>
                    <a:pt x="0" y="8113656"/>
                  </a:cubicBezTo>
                  <a:close/>
                </a:path>
              </a:pathLst>
            </a:custGeom>
            <a:solidFill>
              <a:srgbClr val="FBF6F1"/>
            </a:solidFill>
            <a:ln w="66675" cap="sq">
              <a:solidFill>
                <a:srgbClr val="FEF3C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88262" y="3619431"/>
            <a:ext cx="5923188" cy="727585"/>
            <a:chOff x="0" y="0"/>
            <a:chExt cx="5738102" cy="7048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38102" cy="704850"/>
            </a:xfrm>
            <a:custGeom>
              <a:avLst/>
              <a:gdLst/>
              <a:ahLst/>
              <a:cxnLst/>
              <a:rect r="r" b="b" t="t" l="l"/>
              <a:pathLst>
                <a:path h="704850" w="5738102">
                  <a:moveTo>
                    <a:pt x="0" y="114300"/>
                  </a:moveTo>
                  <a:cubicBezTo>
                    <a:pt x="0" y="51181"/>
                    <a:pt x="30467" y="0"/>
                    <a:pt x="68041" y="0"/>
                  </a:cubicBezTo>
                  <a:lnTo>
                    <a:pt x="5670062" y="0"/>
                  </a:lnTo>
                  <a:cubicBezTo>
                    <a:pt x="5707635" y="0"/>
                    <a:pt x="5738102" y="51181"/>
                    <a:pt x="5738102" y="114300"/>
                  </a:cubicBezTo>
                  <a:lnTo>
                    <a:pt x="5738102" y="590550"/>
                  </a:lnTo>
                  <a:cubicBezTo>
                    <a:pt x="5738102" y="653669"/>
                    <a:pt x="5707635" y="704850"/>
                    <a:pt x="5670062" y="704850"/>
                  </a:cubicBezTo>
                  <a:lnTo>
                    <a:pt x="68041" y="704850"/>
                  </a:lnTo>
                  <a:cubicBezTo>
                    <a:pt x="30467" y="704850"/>
                    <a:pt x="0" y="653669"/>
                    <a:pt x="0" y="590550"/>
                  </a:cubicBezTo>
                  <a:close/>
                </a:path>
              </a:pathLst>
            </a:custGeom>
            <a:blipFill>
              <a:blip r:embed="rId4"/>
              <a:stretch>
                <a:fillRect l="0" t="-674832" r="0" b="-67483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957711" y="2877133"/>
            <a:ext cx="2394114" cy="428625"/>
            <a:chOff x="0" y="0"/>
            <a:chExt cx="3192152" cy="571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92152" cy="571500"/>
            </a:xfrm>
            <a:custGeom>
              <a:avLst/>
              <a:gdLst/>
              <a:ahLst/>
              <a:cxnLst/>
              <a:rect r="r" b="b" t="t" l="l"/>
              <a:pathLst>
                <a:path h="571500" w="3192152">
                  <a:moveTo>
                    <a:pt x="0" y="114300"/>
                  </a:moveTo>
                  <a:cubicBezTo>
                    <a:pt x="0" y="51181"/>
                    <a:pt x="52615" y="0"/>
                    <a:pt x="117503" y="0"/>
                  </a:cubicBezTo>
                  <a:lnTo>
                    <a:pt x="3074650" y="0"/>
                  </a:lnTo>
                  <a:cubicBezTo>
                    <a:pt x="3139537" y="0"/>
                    <a:pt x="3192152" y="51181"/>
                    <a:pt x="3192152" y="114300"/>
                  </a:cubicBezTo>
                  <a:lnTo>
                    <a:pt x="3192152" y="457200"/>
                  </a:lnTo>
                  <a:cubicBezTo>
                    <a:pt x="3192152" y="520319"/>
                    <a:pt x="3139537" y="571500"/>
                    <a:pt x="3074650" y="571500"/>
                  </a:cubicBezTo>
                  <a:lnTo>
                    <a:pt x="117503" y="571500"/>
                  </a:lnTo>
                  <a:cubicBezTo>
                    <a:pt x="52615" y="571500"/>
                    <a:pt x="0" y="520319"/>
                    <a:pt x="0" y="457200"/>
                  </a:cubicBezTo>
                  <a:close/>
                </a:path>
              </a:pathLst>
            </a:custGeom>
            <a:solidFill>
              <a:srgbClr val="93C5F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831292" y="2858083"/>
            <a:ext cx="1771650" cy="428625"/>
            <a:chOff x="0" y="0"/>
            <a:chExt cx="2362200" cy="571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62200" cy="571500"/>
            </a:xfrm>
            <a:custGeom>
              <a:avLst/>
              <a:gdLst/>
              <a:ahLst/>
              <a:cxnLst/>
              <a:rect r="r" b="b" t="t" l="l"/>
              <a:pathLst>
                <a:path h="571500" w="23622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2247900" y="0"/>
                  </a:lnTo>
                  <a:cubicBezTo>
                    <a:pt x="2311019" y="0"/>
                    <a:pt x="2362200" y="51181"/>
                    <a:pt x="2362200" y="114300"/>
                  </a:cubicBezTo>
                  <a:lnTo>
                    <a:pt x="2362200" y="457200"/>
                  </a:lnTo>
                  <a:cubicBezTo>
                    <a:pt x="2362200" y="520319"/>
                    <a:pt x="2311019" y="571500"/>
                    <a:pt x="2247900" y="571500"/>
                  </a:cubicBezTo>
                  <a:lnTo>
                    <a:pt x="114300" y="571500"/>
                  </a:lnTo>
                  <a:cubicBezTo>
                    <a:pt x="51181" y="571500"/>
                    <a:pt x="0" y="520319"/>
                    <a:pt x="0" y="457200"/>
                  </a:cubicBezTo>
                  <a:close/>
                </a:path>
              </a:pathLst>
            </a:custGeom>
            <a:solidFill>
              <a:srgbClr val="FFFBE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88262" y="2877133"/>
            <a:ext cx="339119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1211CA"/>
                </a:solidFill>
                <a:latin typeface="Arimo Bold"/>
                <a:ea typeface="Arimo Bold"/>
                <a:cs typeface="Arimo Bold"/>
                <a:sym typeface="Arimo Bold"/>
              </a:rPr>
              <a:t>PROMPT INJECTION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5034" y="3797486"/>
            <a:ext cx="554964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F8FAFC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X = S || U (Flat Token Space)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87462" y="2858083"/>
            <a:ext cx="369641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F9B314"/>
                </a:solidFill>
                <a:latin typeface="Arimo Bold"/>
                <a:ea typeface="Arimo Bold"/>
                <a:cs typeface="Arimo Bold"/>
                <a:sym typeface="Arimo Bold"/>
              </a:rPr>
              <a:t>JAILBREAK ATTACKS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15373" y="3619431"/>
            <a:ext cx="6559252" cy="727585"/>
            <a:chOff x="0" y="0"/>
            <a:chExt cx="6354292" cy="7048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4292" cy="704850"/>
            </a:xfrm>
            <a:custGeom>
              <a:avLst/>
              <a:gdLst/>
              <a:ahLst/>
              <a:cxnLst/>
              <a:rect r="r" b="b" t="t" l="l"/>
              <a:pathLst>
                <a:path h="704850" w="6354292">
                  <a:moveTo>
                    <a:pt x="0" y="114300"/>
                  </a:moveTo>
                  <a:cubicBezTo>
                    <a:pt x="0" y="51181"/>
                    <a:pt x="33739" y="0"/>
                    <a:pt x="75347" y="0"/>
                  </a:cubicBezTo>
                  <a:lnTo>
                    <a:pt x="6278944" y="0"/>
                  </a:lnTo>
                  <a:cubicBezTo>
                    <a:pt x="6320553" y="0"/>
                    <a:pt x="6354292" y="51181"/>
                    <a:pt x="6354292" y="114300"/>
                  </a:cubicBezTo>
                  <a:lnTo>
                    <a:pt x="6354292" y="590550"/>
                  </a:lnTo>
                  <a:cubicBezTo>
                    <a:pt x="6354292" y="653669"/>
                    <a:pt x="6320553" y="704850"/>
                    <a:pt x="6278944" y="704850"/>
                  </a:cubicBezTo>
                  <a:lnTo>
                    <a:pt x="75347" y="704850"/>
                  </a:lnTo>
                  <a:cubicBezTo>
                    <a:pt x="33739" y="704850"/>
                    <a:pt x="0" y="653669"/>
                    <a:pt x="0" y="590550"/>
                  </a:cubicBezTo>
                  <a:close/>
                </a:path>
              </a:pathLst>
            </a:custGeom>
            <a:blipFill>
              <a:blip r:embed="rId5"/>
              <a:stretch>
                <a:fillRect l="0" t="-750497" r="0" b="-750497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987462" y="3754623"/>
            <a:ext cx="70294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Helpfulness vs. Harmlessness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66751" y="2972383"/>
            <a:ext cx="208939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211CA"/>
                </a:solidFill>
                <a:latin typeface="Arimo Bold"/>
                <a:ea typeface="Arimo Bold"/>
                <a:cs typeface="Arimo Bold"/>
                <a:sym typeface="Arimo Bold"/>
              </a:rPr>
              <a:t>APPLICA</a:t>
            </a:r>
            <a:r>
              <a:rPr lang="en-US" sz="1575" b="true">
                <a:solidFill>
                  <a:srgbClr val="1211CA"/>
                </a:solidFill>
                <a:latin typeface="Arimo Bold"/>
                <a:ea typeface="Arimo Bold"/>
                <a:cs typeface="Arimo Bold"/>
                <a:sym typeface="Arimo Bold"/>
              </a:rPr>
              <a:t>TION LAYER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8262" y="4728016"/>
            <a:ext cx="7229475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  <a:spcBef>
                <a:spcPct val="0"/>
              </a:spcBef>
            </a:pPr>
            <a:r>
              <a:rPr lang="en-US" b="true" sz="2499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Att</a:t>
            </a:r>
            <a:r>
              <a:rPr lang="en-US" b="true" sz="2499" strike="noStrike" u="non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ack Vectors:</a:t>
            </a:r>
          </a:p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Direct Chat &amp; Indirect Context (RAG, PDF, Email)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872884" y="2934283"/>
            <a:ext cx="172268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D97706"/>
                </a:solidFill>
                <a:latin typeface="Arimo Bold"/>
                <a:ea typeface="Arimo Bold"/>
                <a:cs typeface="Arimo Bold"/>
                <a:sym typeface="Arimo Bold"/>
              </a:rPr>
              <a:t>WEIGH</a:t>
            </a:r>
            <a:r>
              <a:rPr lang="en-US" sz="1575" b="true">
                <a:solidFill>
                  <a:srgbClr val="D97706"/>
                </a:solidFill>
                <a:latin typeface="Arimo Bold"/>
                <a:ea typeface="Arimo Bold"/>
                <a:cs typeface="Arimo Bold"/>
                <a:sym typeface="Arimo Bold"/>
              </a:rPr>
              <a:t>TS LAYER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01436" y="449142"/>
            <a:ext cx="1331712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2563E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RESEARCH</a:t>
            </a:r>
            <a:r>
              <a:rPr lang="en-US" sz="1650" b="true">
                <a:solidFill>
                  <a:srgbClr val="2563E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CONTEXT &amp; VULNERABILITY ROOT CAUSE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1436" y="789041"/>
            <a:ext cx="14937124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b="true" sz="3300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</a:t>
            </a:r>
            <a:r>
              <a:rPr lang="en-US" b="true" sz="3300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ULNERABILITY BREAKDOWN: PROMPT INJECTION VS. JAILBREAK ATTACKS 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88262" y="5889114"/>
            <a:ext cx="6371735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  <a:spcBef>
                <a:spcPct val="0"/>
              </a:spcBef>
            </a:pPr>
            <a:r>
              <a:rPr lang="en-US" b="true" sz="2499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Core</a:t>
            </a:r>
            <a:r>
              <a:rPr lang="en-US" b="true" sz="2499" strike="noStrike" u="non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 Objective:</a:t>
            </a:r>
          </a:p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Goal Hijacking &amp; Markdown Data Exfiltration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8262" y="7050211"/>
            <a:ext cx="6747957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  <a:spcBef>
                <a:spcPct val="0"/>
              </a:spcBef>
            </a:pPr>
            <a:r>
              <a:rPr lang="en-US" b="true" sz="2499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Def</a:t>
            </a:r>
            <a:r>
              <a:rPr lang="en-US" b="true" sz="2499" strike="noStrike" u="non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ense Strategy:</a:t>
            </a:r>
          </a:p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Mandat</a:t>
            </a:r>
            <a:r>
              <a:rPr lang="en-US" sz="2100" strike="noStrike" u="non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ory External Ingress Proxy (Text-Level)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87462" y="4728016"/>
            <a:ext cx="5593880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  <a:spcBef>
                <a:spcPct val="0"/>
              </a:spcBef>
            </a:pPr>
            <a:r>
              <a:rPr lang="en-US" b="true" sz="2499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Expl</a:t>
            </a:r>
            <a:r>
              <a:rPr lang="en-US" b="true" sz="2499" strike="noStrike" u="non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oitation:</a:t>
            </a:r>
          </a:p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Persona Roleplay (DAN), Few-Shot &amp; Ciphers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87462" y="6022464"/>
            <a:ext cx="6050401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  <a:spcBef>
                <a:spcPct val="0"/>
              </a:spcBef>
            </a:pPr>
            <a:r>
              <a:rPr lang="en-US" b="true" sz="2499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Core</a:t>
            </a:r>
            <a:r>
              <a:rPr lang="en-US" b="true" sz="2499" strike="noStrike" u="non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 Objective:</a:t>
            </a:r>
          </a:p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Refus</a:t>
            </a:r>
            <a:r>
              <a:rPr lang="en-US" sz="2100" strike="noStrike" u="non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al Boundary Bypass (Forced Harmful Output)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87462" y="7050211"/>
            <a:ext cx="5923188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  <a:spcBef>
                <a:spcPct val="0"/>
              </a:spcBef>
            </a:pPr>
            <a:r>
              <a:rPr lang="en-US" b="true" sz="2499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Def</a:t>
            </a:r>
            <a:r>
              <a:rPr lang="en-US" b="true" sz="2499" strike="noStrike" u="non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ense Strategy:</a:t>
            </a:r>
          </a:p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In</a:t>
            </a:r>
            <a:r>
              <a:rPr lang="en-US" sz="2100" strike="noStrike" u="non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ternal Safety Alignment (RLHF) &amp; Output Filters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92956" y="3721894"/>
            <a:ext cx="3168920" cy="4347389"/>
            <a:chOff x="0" y="0"/>
            <a:chExt cx="4225226" cy="57965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25290" cy="5796519"/>
            </a:xfrm>
            <a:custGeom>
              <a:avLst/>
              <a:gdLst/>
              <a:ahLst/>
              <a:cxnLst/>
              <a:rect r="r" b="b" t="t" l="l"/>
              <a:pathLst>
                <a:path h="5796519" w="4225290">
                  <a:moveTo>
                    <a:pt x="0" y="336087"/>
                  </a:moveTo>
                  <a:cubicBezTo>
                    <a:pt x="0" y="150487"/>
                    <a:pt x="102870" y="0"/>
                    <a:pt x="229743" y="0"/>
                  </a:cubicBezTo>
                  <a:lnTo>
                    <a:pt x="3995547" y="0"/>
                  </a:lnTo>
                  <a:cubicBezTo>
                    <a:pt x="4122420" y="0"/>
                    <a:pt x="4225290" y="150487"/>
                    <a:pt x="4225290" y="336087"/>
                  </a:cubicBezTo>
                  <a:lnTo>
                    <a:pt x="4225290" y="5460432"/>
                  </a:lnTo>
                  <a:cubicBezTo>
                    <a:pt x="4225290" y="5646032"/>
                    <a:pt x="4122420" y="5796519"/>
                    <a:pt x="3995547" y="5796519"/>
                  </a:cubicBezTo>
                  <a:lnTo>
                    <a:pt x="229743" y="5796519"/>
                  </a:lnTo>
                  <a:cubicBezTo>
                    <a:pt x="102870" y="5796519"/>
                    <a:pt x="0" y="5646032"/>
                    <a:pt x="0" y="54604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CCFE6">
                    <a:alpha val="100000"/>
                  </a:srgbClr>
                </a:gs>
                <a:gs pos="100000">
                  <a:srgbClr val="D9DBE8">
                    <a:alpha val="100000"/>
                  </a:srgbClr>
                </a:gs>
              </a:gsLst>
              <a:lin ang="0"/>
            </a:gra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4176189" y="3721894"/>
            <a:ext cx="3168920" cy="4347389"/>
            <a:chOff x="0" y="0"/>
            <a:chExt cx="4225226" cy="5796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25290" cy="5796519"/>
            </a:xfrm>
            <a:custGeom>
              <a:avLst/>
              <a:gdLst/>
              <a:ahLst/>
              <a:cxnLst/>
              <a:rect r="r" b="b" t="t" l="l"/>
              <a:pathLst>
                <a:path h="5796519" w="4225290">
                  <a:moveTo>
                    <a:pt x="0" y="336087"/>
                  </a:moveTo>
                  <a:cubicBezTo>
                    <a:pt x="0" y="150487"/>
                    <a:pt x="102870" y="0"/>
                    <a:pt x="229743" y="0"/>
                  </a:cubicBezTo>
                  <a:lnTo>
                    <a:pt x="3995547" y="0"/>
                  </a:lnTo>
                  <a:cubicBezTo>
                    <a:pt x="4122420" y="0"/>
                    <a:pt x="4225290" y="150487"/>
                    <a:pt x="4225290" y="336087"/>
                  </a:cubicBezTo>
                  <a:lnTo>
                    <a:pt x="4225290" y="5460432"/>
                  </a:lnTo>
                  <a:cubicBezTo>
                    <a:pt x="4225290" y="5646032"/>
                    <a:pt x="4122420" y="5796519"/>
                    <a:pt x="3995547" y="5796519"/>
                  </a:cubicBezTo>
                  <a:lnTo>
                    <a:pt x="229743" y="5796519"/>
                  </a:lnTo>
                  <a:cubicBezTo>
                    <a:pt x="102870" y="5796519"/>
                    <a:pt x="0" y="5646032"/>
                    <a:pt x="0" y="54604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9DBE8">
                    <a:alpha val="100000"/>
                  </a:srgbClr>
                </a:gs>
                <a:gs pos="100000">
                  <a:srgbClr val="ACCFE6">
                    <a:alpha val="100000"/>
                  </a:srgbClr>
                </a:gs>
              </a:gsLst>
              <a:lin ang="0"/>
            </a:gra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901436" y="1845469"/>
            <a:ext cx="899085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Formalized</a:t>
            </a:r>
            <a:r>
              <a:rPr lang="en-US" sz="2000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 Threat Vectors &amp; Evasion Mechanics in LLM-Integrated Applications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098459" y="3989157"/>
            <a:ext cx="557915" cy="55791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1F4F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114088" y="4089815"/>
            <a:ext cx="52665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sz="2342" b="true">
                <a:solidFill>
                  <a:srgbClr val="1E3A8A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481691" y="3989157"/>
            <a:ext cx="557915" cy="55791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1F4F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497320" y="4089815"/>
            <a:ext cx="52665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sz="2342" b="true">
                <a:solidFill>
                  <a:srgbClr val="1E3A8A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68560" y="4762500"/>
            <a:ext cx="121771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Pa</a:t>
            </a:r>
            <a:r>
              <a:rPr lang="en-US" sz="2499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yload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25301" y="4762500"/>
            <a:ext cx="127069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Attacker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11092" y="6934200"/>
            <a:ext cx="2332649" cy="895046"/>
            <a:chOff x="0" y="0"/>
            <a:chExt cx="6657722" cy="25545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57786" cy="2554594"/>
            </a:xfrm>
            <a:custGeom>
              <a:avLst/>
              <a:gdLst/>
              <a:ahLst/>
              <a:cxnLst/>
              <a:rect r="r" b="b" t="t" l="l"/>
              <a:pathLst>
                <a:path h="2554594" w="6657786">
                  <a:moveTo>
                    <a:pt x="0" y="148117"/>
                  </a:moveTo>
                  <a:cubicBezTo>
                    <a:pt x="0" y="66321"/>
                    <a:pt x="162093" y="0"/>
                    <a:pt x="362008" y="0"/>
                  </a:cubicBezTo>
                  <a:lnTo>
                    <a:pt x="6295815" y="0"/>
                  </a:lnTo>
                  <a:cubicBezTo>
                    <a:pt x="6495729" y="0"/>
                    <a:pt x="6657786" y="66321"/>
                    <a:pt x="6657786" y="148117"/>
                  </a:cubicBezTo>
                  <a:lnTo>
                    <a:pt x="6657786" y="2406477"/>
                  </a:lnTo>
                  <a:cubicBezTo>
                    <a:pt x="6657786" y="2488273"/>
                    <a:pt x="6495729" y="2554594"/>
                    <a:pt x="6295815" y="2554594"/>
                  </a:cubicBezTo>
                  <a:lnTo>
                    <a:pt x="362008" y="2554594"/>
                  </a:lnTo>
                  <a:cubicBezTo>
                    <a:pt x="162093" y="2554594"/>
                    <a:pt x="0" y="2488273"/>
                    <a:pt x="0" y="2406477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375094" y="7105498"/>
            <a:ext cx="171524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Goal Hijacking &amp;</a:t>
            </a:r>
          </a:p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 Prompt Leaking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534516" y="6934200"/>
            <a:ext cx="2482169" cy="895046"/>
            <a:chOff x="0" y="0"/>
            <a:chExt cx="7084476" cy="255459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84540" cy="2554594"/>
            </a:xfrm>
            <a:custGeom>
              <a:avLst/>
              <a:gdLst/>
              <a:ahLst/>
              <a:cxnLst/>
              <a:rect r="r" b="b" t="t" l="l"/>
              <a:pathLst>
                <a:path h="2554594" w="7084540">
                  <a:moveTo>
                    <a:pt x="0" y="148117"/>
                  </a:moveTo>
                  <a:cubicBezTo>
                    <a:pt x="0" y="66321"/>
                    <a:pt x="172483" y="0"/>
                    <a:pt x="385212" y="0"/>
                  </a:cubicBezTo>
                  <a:lnTo>
                    <a:pt x="6699370" y="0"/>
                  </a:lnTo>
                  <a:cubicBezTo>
                    <a:pt x="6912099" y="0"/>
                    <a:pt x="7084540" y="66321"/>
                    <a:pt x="7084540" y="148117"/>
                  </a:cubicBezTo>
                  <a:lnTo>
                    <a:pt x="7084540" y="2406477"/>
                  </a:lnTo>
                  <a:cubicBezTo>
                    <a:pt x="7084540" y="2488273"/>
                    <a:pt x="6912099" y="2554594"/>
                    <a:pt x="6699370" y="2554594"/>
                  </a:cubicBezTo>
                  <a:lnTo>
                    <a:pt x="385212" y="2554594"/>
                  </a:lnTo>
                  <a:cubicBezTo>
                    <a:pt x="172483" y="2554594"/>
                    <a:pt x="0" y="2488273"/>
                    <a:pt x="0" y="2406477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4623969" y="7234086"/>
            <a:ext cx="230326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Iterative Filter Evasion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564184" y="3721894"/>
            <a:ext cx="3168920" cy="4347389"/>
            <a:chOff x="0" y="0"/>
            <a:chExt cx="4225226" cy="57965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25290" cy="5796519"/>
            </a:xfrm>
            <a:custGeom>
              <a:avLst/>
              <a:gdLst/>
              <a:ahLst/>
              <a:cxnLst/>
              <a:rect r="r" b="b" t="t" l="l"/>
              <a:pathLst>
                <a:path h="5796519" w="4225290">
                  <a:moveTo>
                    <a:pt x="0" y="336087"/>
                  </a:moveTo>
                  <a:cubicBezTo>
                    <a:pt x="0" y="150487"/>
                    <a:pt x="102870" y="0"/>
                    <a:pt x="229743" y="0"/>
                  </a:cubicBezTo>
                  <a:lnTo>
                    <a:pt x="3995547" y="0"/>
                  </a:lnTo>
                  <a:cubicBezTo>
                    <a:pt x="4122420" y="0"/>
                    <a:pt x="4225290" y="150487"/>
                    <a:pt x="4225290" y="336087"/>
                  </a:cubicBezTo>
                  <a:lnTo>
                    <a:pt x="4225290" y="5460432"/>
                  </a:lnTo>
                  <a:cubicBezTo>
                    <a:pt x="4225290" y="5646032"/>
                    <a:pt x="4122420" y="5796519"/>
                    <a:pt x="3995547" y="5796519"/>
                  </a:cubicBezTo>
                  <a:lnTo>
                    <a:pt x="229743" y="5796519"/>
                  </a:lnTo>
                  <a:cubicBezTo>
                    <a:pt x="102870" y="5796519"/>
                    <a:pt x="0" y="5646032"/>
                    <a:pt x="0" y="54604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CCFE6">
                    <a:alpha val="100000"/>
                  </a:srgbClr>
                </a:gs>
                <a:gs pos="100000">
                  <a:srgbClr val="D9DBE8">
                    <a:alpha val="100000"/>
                  </a:srgbClr>
                </a:gs>
              </a:gsLst>
              <a:lin ang="0"/>
            </a:gra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947416" y="3721894"/>
            <a:ext cx="3168920" cy="4347389"/>
            <a:chOff x="0" y="0"/>
            <a:chExt cx="4225226" cy="57965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25290" cy="5796519"/>
            </a:xfrm>
            <a:custGeom>
              <a:avLst/>
              <a:gdLst/>
              <a:ahLst/>
              <a:cxnLst/>
              <a:rect r="r" b="b" t="t" l="l"/>
              <a:pathLst>
                <a:path h="5796519" w="4225290">
                  <a:moveTo>
                    <a:pt x="0" y="336087"/>
                  </a:moveTo>
                  <a:cubicBezTo>
                    <a:pt x="0" y="150487"/>
                    <a:pt x="102870" y="0"/>
                    <a:pt x="229743" y="0"/>
                  </a:cubicBezTo>
                  <a:lnTo>
                    <a:pt x="3995547" y="0"/>
                  </a:lnTo>
                  <a:cubicBezTo>
                    <a:pt x="4122420" y="0"/>
                    <a:pt x="4225290" y="150487"/>
                    <a:pt x="4225290" y="336087"/>
                  </a:cubicBezTo>
                  <a:lnTo>
                    <a:pt x="4225290" y="5460432"/>
                  </a:lnTo>
                  <a:cubicBezTo>
                    <a:pt x="4225290" y="5646032"/>
                    <a:pt x="4122420" y="5796519"/>
                    <a:pt x="3995547" y="5796519"/>
                  </a:cubicBezTo>
                  <a:lnTo>
                    <a:pt x="229743" y="5796519"/>
                  </a:lnTo>
                  <a:cubicBezTo>
                    <a:pt x="102870" y="5796519"/>
                    <a:pt x="0" y="5646032"/>
                    <a:pt x="0" y="54604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9DBE8">
                    <a:alpha val="100000"/>
                  </a:srgbClr>
                </a:gs>
                <a:gs pos="100000">
                  <a:srgbClr val="ACCFE6">
                    <a:alpha val="100000"/>
                  </a:srgbClr>
                </a:gs>
              </a:gsLst>
              <a:lin ang="0"/>
            </a:gra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869686" y="3989157"/>
            <a:ext cx="557915" cy="557915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1F4F3"/>
            </a:solidFill>
            <a:ln cap="rnd">
              <a:noFill/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885315" y="4089815"/>
            <a:ext cx="52665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sz="2342" b="true">
                <a:solidFill>
                  <a:srgbClr val="1E3A8A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3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252918" y="3989157"/>
            <a:ext cx="557915" cy="55791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1F4F3"/>
            </a:solidFill>
            <a:ln cap="rnd">
              <a:noFill/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268548" y="4089815"/>
            <a:ext cx="52665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sz="2342" b="true">
                <a:solidFill>
                  <a:srgbClr val="1E3A8A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250168" y="4762500"/>
            <a:ext cx="194057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Ingress F</a:t>
            </a:r>
            <a:r>
              <a:rPr lang="en-US" sz="2499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low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896529" y="4762500"/>
            <a:ext cx="139288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Footprint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916608" y="6934200"/>
            <a:ext cx="2607688" cy="895046"/>
            <a:chOff x="0" y="0"/>
            <a:chExt cx="7442725" cy="255459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442788" cy="2554594"/>
            </a:xfrm>
            <a:custGeom>
              <a:avLst/>
              <a:gdLst/>
              <a:ahLst/>
              <a:cxnLst/>
              <a:rect r="r" b="b" t="t" l="l"/>
              <a:pathLst>
                <a:path h="2554594" w="7442788">
                  <a:moveTo>
                    <a:pt x="0" y="148117"/>
                  </a:moveTo>
                  <a:cubicBezTo>
                    <a:pt x="0" y="66321"/>
                    <a:pt x="181205" y="0"/>
                    <a:pt x="404692" y="0"/>
                  </a:cubicBezTo>
                  <a:lnTo>
                    <a:pt x="7038145" y="0"/>
                  </a:lnTo>
                  <a:cubicBezTo>
                    <a:pt x="7261631" y="0"/>
                    <a:pt x="7442788" y="66321"/>
                    <a:pt x="7442788" y="148117"/>
                  </a:cubicBezTo>
                  <a:lnTo>
                    <a:pt x="7442788" y="2406477"/>
                  </a:lnTo>
                  <a:cubicBezTo>
                    <a:pt x="7442788" y="2488273"/>
                    <a:pt x="7261631" y="2554594"/>
                    <a:pt x="7038145" y="2554594"/>
                  </a:cubicBezTo>
                  <a:lnTo>
                    <a:pt x="404692" y="2554594"/>
                  </a:lnTo>
                  <a:cubicBezTo>
                    <a:pt x="181205" y="2554594"/>
                    <a:pt x="0" y="2488273"/>
                    <a:pt x="0" y="2406477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8208392" y="7105498"/>
            <a:ext cx="190693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Zero Weight </a:t>
            </a:r>
          </a:p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Tampering (Proxy)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1305743" y="6934200"/>
            <a:ext cx="2482169" cy="895046"/>
            <a:chOff x="0" y="0"/>
            <a:chExt cx="7084476" cy="255459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84540" cy="2554594"/>
            </a:xfrm>
            <a:custGeom>
              <a:avLst/>
              <a:gdLst/>
              <a:ahLst/>
              <a:cxnLst/>
              <a:rect r="r" b="b" t="t" l="l"/>
              <a:pathLst>
                <a:path h="2554594" w="7084540">
                  <a:moveTo>
                    <a:pt x="0" y="148117"/>
                  </a:moveTo>
                  <a:cubicBezTo>
                    <a:pt x="0" y="66321"/>
                    <a:pt x="172483" y="0"/>
                    <a:pt x="385212" y="0"/>
                  </a:cubicBezTo>
                  <a:lnTo>
                    <a:pt x="6699370" y="0"/>
                  </a:lnTo>
                  <a:cubicBezTo>
                    <a:pt x="6912099" y="0"/>
                    <a:pt x="7084540" y="66321"/>
                    <a:pt x="7084540" y="148117"/>
                  </a:cubicBezTo>
                  <a:lnTo>
                    <a:pt x="7084540" y="2406477"/>
                  </a:lnTo>
                  <a:cubicBezTo>
                    <a:pt x="7084540" y="2488273"/>
                    <a:pt x="6912099" y="2554594"/>
                    <a:pt x="6699370" y="2554594"/>
                  </a:cubicBezTo>
                  <a:lnTo>
                    <a:pt x="385212" y="2554594"/>
                  </a:lnTo>
                  <a:cubicBezTo>
                    <a:pt x="172483" y="2554594"/>
                    <a:pt x="0" y="2488273"/>
                    <a:pt x="0" y="2406477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11917285" y="7105498"/>
            <a:ext cx="125908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Adversarial </a:t>
            </a:r>
          </a:p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Obfuscation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4335411" y="3721894"/>
            <a:ext cx="3168920" cy="4347389"/>
            <a:chOff x="0" y="0"/>
            <a:chExt cx="4225226" cy="579651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25290" cy="5796519"/>
            </a:xfrm>
            <a:custGeom>
              <a:avLst/>
              <a:gdLst/>
              <a:ahLst/>
              <a:cxnLst/>
              <a:rect r="r" b="b" t="t" l="l"/>
              <a:pathLst>
                <a:path h="5796519" w="4225290">
                  <a:moveTo>
                    <a:pt x="0" y="336087"/>
                  </a:moveTo>
                  <a:cubicBezTo>
                    <a:pt x="0" y="150487"/>
                    <a:pt x="102870" y="0"/>
                    <a:pt x="229743" y="0"/>
                  </a:cubicBezTo>
                  <a:lnTo>
                    <a:pt x="3995547" y="0"/>
                  </a:lnTo>
                  <a:cubicBezTo>
                    <a:pt x="4122420" y="0"/>
                    <a:pt x="4225290" y="150487"/>
                    <a:pt x="4225290" y="336087"/>
                  </a:cubicBezTo>
                  <a:lnTo>
                    <a:pt x="4225290" y="5460432"/>
                  </a:lnTo>
                  <a:cubicBezTo>
                    <a:pt x="4225290" y="5646032"/>
                    <a:pt x="4122420" y="5796519"/>
                    <a:pt x="3995547" y="5796519"/>
                  </a:cubicBezTo>
                  <a:lnTo>
                    <a:pt x="229743" y="5796519"/>
                  </a:lnTo>
                  <a:cubicBezTo>
                    <a:pt x="102870" y="5796519"/>
                    <a:pt x="0" y="5646032"/>
                    <a:pt x="0" y="54604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CCFE6">
                    <a:alpha val="100000"/>
                  </a:srgbClr>
                </a:gs>
                <a:gs pos="100000">
                  <a:srgbClr val="D9DBE8">
                    <a:alpha val="100000"/>
                  </a:srgbClr>
                </a:gs>
              </a:gsLst>
              <a:lin ang="0"/>
            </a:gra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5640913" y="3989157"/>
            <a:ext cx="557915" cy="557915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1F4F3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5656543" y="4089815"/>
            <a:ext cx="52665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sz="2342" b="true">
                <a:solidFill>
                  <a:srgbClr val="1E3A8A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958292" y="4762500"/>
            <a:ext cx="192315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Blast R</a:t>
            </a:r>
            <a:r>
              <a:rPr lang="en-US" sz="2499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adius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4753546" y="6934200"/>
            <a:ext cx="2332649" cy="895046"/>
            <a:chOff x="0" y="0"/>
            <a:chExt cx="6657722" cy="255459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657786" cy="2554594"/>
            </a:xfrm>
            <a:custGeom>
              <a:avLst/>
              <a:gdLst/>
              <a:ahLst/>
              <a:cxnLst/>
              <a:rect r="r" b="b" t="t" l="l"/>
              <a:pathLst>
                <a:path h="2554594" w="6657786">
                  <a:moveTo>
                    <a:pt x="0" y="148117"/>
                  </a:moveTo>
                  <a:cubicBezTo>
                    <a:pt x="0" y="66321"/>
                    <a:pt x="162093" y="0"/>
                    <a:pt x="362008" y="0"/>
                  </a:cubicBezTo>
                  <a:lnTo>
                    <a:pt x="6295815" y="0"/>
                  </a:lnTo>
                  <a:cubicBezTo>
                    <a:pt x="6495729" y="0"/>
                    <a:pt x="6657786" y="66321"/>
                    <a:pt x="6657786" y="148117"/>
                  </a:cubicBezTo>
                  <a:lnTo>
                    <a:pt x="6657786" y="2406477"/>
                  </a:lnTo>
                  <a:cubicBezTo>
                    <a:pt x="6657786" y="2488273"/>
                    <a:pt x="6495729" y="2554594"/>
                    <a:pt x="6295815" y="2554594"/>
                  </a:cubicBezTo>
                  <a:lnTo>
                    <a:pt x="362008" y="2554594"/>
                  </a:lnTo>
                  <a:cubicBezTo>
                    <a:pt x="162093" y="2554594"/>
                    <a:pt x="0" y="2488273"/>
                    <a:pt x="0" y="2406477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53" id="53"/>
          <p:cNvSpPr txBox="true"/>
          <p:nvPr/>
        </p:nvSpPr>
        <p:spPr>
          <a:xfrm rot="0">
            <a:off x="15151992" y="7105498"/>
            <a:ext cx="153575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Systemic Data </a:t>
            </a:r>
          </a:p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Exfiltration</a:t>
            </a:r>
          </a:p>
        </p:txBody>
      </p:sp>
      <p:grpSp>
        <p:nvGrpSpPr>
          <p:cNvPr name="Group 54" id="54"/>
          <p:cNvGrpSpPr/>
          <p:nvPr/>
        </p:nvGrpSpPr>
        <p:grpSpPr>
          <a:xfrm rot="5400000">
            <a:off x="9108007" y="1072396"/>
            <a:ext cx="81273" cy="16711374"/>
            <a:chOff x="0" y="0"/>
            <a:chExt cx="5200" cy="106923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200" cy="1069236"/>
            </a:xfrm>
            <a:custGeom>
              <a:avLst/>
              <a:gdLst/>
              <a:ahLst/>
              <a:cxnLst/>
              <a:rect r="r" b="b" t="t" l="l"/>
              <a:pathLst>
                <a:path h="1069236" w="5200">
                  <a:moveTo>
                    <a:pt x="2600" y="0"/>
                  </a:moveTo>
                  <a:lnTo>
                    <a:pt x="2600" y="0"/>
                  </a:lnTo>
                  <a:cubicBezTo>
                    <a:pt x="3290" y="0"/>
                    <a:pt x="3951" y="274"/>
                    <a:pt x="4439" y="762"/>
                  </a:cubicBezTo>
                  <a:cubicBezTo>
                    <a:pt x="4926" y="1249"/>
                    <a:pt x="5200" y="1910"/>
                    <a:pt x="5200" y="2600"/>
                  </a:cubicBezTo>
                  <a:lnTo>
                    <a:pt x="5200" y="1066636"/>
                  </a:lnTo>
                  <a:cubicBezTo>
                    <a:pt x="5200" y="1068072"/>
                    <a:pt x="4036" y="1069236"/>
                    <a:pt x="2600" y="1069236"/>
                  </a:cubicBezTo>
                  <a:lnTo>
                    <a:pt x="2600" y="1069236"/>
                  </a:lnTo>
                  <a:cubicBezTo>
                    <a:pt x="1164" y="1069236"/>
                    <a:pt x="0" y="1068072"/>
                    <a:pt x="0" y="1066636"/>
                  </a:cubicBezTo>
                  <a:lnTo>
                    <a:pt x="0" y="2600"/>
                  </a:lnTo>
                  <a:cubicBezTo>
                    <a:pt x="0" y="1164"/>
                    <a:pt x="1164" y="0"/>
                    <a:pt x="2600" y="0"/>
                  </a:cubicBezTo>
                  <a:close/>
                </a:path>
              </a:pathLst>
            </a:custGeom>
            <a:blipFill>
              <a:blip r:embed="rId3"/>
              <a:stretch>
                <a:fillRect l="-16380911" t="0" r="-16380911" b="0"/>
              </a:stretch>
            </a:blip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901436" y="449142"/>
            <a:ext cx="1331712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2563E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THREAT</a:t>
            </a:r>
            <a:r>
              <a:rPr lang="en-US" sz="1650" b="true">
                <a:solidFill>
                  <a:srgbClr val="2563E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MODELING &amp; ATTACK SURFACE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01436" y="789041"/>
            <a:ext cx="14937124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b="true" sz="3300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5D</a:t>
            </a:r>
            <a:r>
              <a:rPr lang="en-US" b="true" sz="3300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ATTACK SURFACE TAXONOMY (NIST AI 100-2E2025)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41221" y="5457825"/>
            <a:ext cx="230252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 Direct User Prompts</a:t>
            </a:r>
          </a:p>
          <a:p>
            <a:pPr algn="ctr">
              <a:lnSpc>
                <a:spcPts val="2040"/>
              </a:lnSpc>
            </a:pPr>
          </a:p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Indirect RAG / Context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759110" y="5457825"/>
            <a:ext cx="200307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Malicious End-User</a:t>
            </a:r>
          </a:p>
          <a:p>
            <a:pPr algn="ctr">
              <a:lnSpc>
                <a:spcPts val="2040"/>
              </a:lnSpc>
            </a:pPr>
          </a:p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Adaptive Attacker</a:t>
            </a:r>
          </a:p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 (USENIX'26)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974458" y="5457825"/>
            <a:ext cx="234837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 Pre-LLM API Gateway</a:t>
            </a:r>
          </a:p>
          <a:p>
            <a:pPr algn="ctr">
              <a:lnSpc>
                <a:spcPts val="2040"/>
              </a:lnSpc>
            </a:pPr>
          </a:p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Text-Level Inspection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138616" y="5457825"/>
            <a:ext cx="297772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Leetspeak &amp; Base64</a:t>
            </a:r>
          </a:p>
          <a:p>
            <a:pPr algn="ctr">
              <a:lnSpc>
                <a:spcPts val="2040"/>
              </a:lnSpc>
            </a:pPr>
          </a:p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Controlled-Release Ciphers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349701" y="5490776"/>
            <a:ext cx="297772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Autonomous Tool Abuse</a:t>
            </a:r>
          </a:p>
          <a:p>
            <a:pPr algn="ctr">
              <a:lnSpc>
                <a:spcPts val="2040"/>
              </a:lnSpc>
            </a:pPr>
          </a:p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Unauthorized SSRF / RCE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28634" y="-1931546"/>
            <a:ext cx="22188662" cy="18920878"/>
          </a:xfrm>
          <a:custGeom>
            <a:avLst/>
            <a:gdLst/>
            <a:ahLst/>
            <a:cxnLst/>
            <a:rect r="r" b="b" t="t" l="l"/>
            <a:pathLst>
              <a:path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42189" y="6507438"/>
            <a:ext cx="4711673" cy="3263094"/>
            <a:chOff x="0" y="0"/>
            <a:chExt cx="1605130" cy="11116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05130" cy="1111641"/>
            </a:xfrm>
            <a:custGeom>
              <a:avLst/>
              <a:gdLst/>
              <a:ahLst/>
              <a:cxnLst/>
              <a:rect r="r" b="b" t="t" l="l"/>
              <a:pathLst>
                <a:path h="1111641" w="1605130">
                  <a:moveTo>
                    <a:pt x="34506" y="0"/>
                  </a:moveTo>
                  <a:lnTo>
                    <a:pt x="1570624" y="0"/>
                  </a:lnTo>
                  <a:cubicBezTo>
                    <a:pt x="1589681" y="0"/>
                    <a:pt x="1605130" y="15449"/>
                    <a:pt x="1605130" y="34506"/>
                  </a:cubicBezTo>
                  <a:lnTo>
                    <a:pt x="1605130" y="1077135"/>
                  </a:lnTo>
                  <a:cubicBezTo>
                    <a:pt x="1605130" y="1086287"/>
                    <a:pt x="1601495" y="1095064"/>
                    <a:pt x="1595023" y="1101535"/>
                  </a:cubicBezTo>
                  <a:cubicBezTo>
                    <a:pt x="1588552" y="1108006"/>
                    <a:pt x="1579776" y="1111641"/>
                    <a:pt x="1570624" y="1111641"/>
                  </a:cubicBezTo>
                  <a:lnTo>
                    <a:pt x="34506" y="1111641"/>
                  </a:lnTo>
                  <a:cubicBezTo>
                    <a:pt x="15449" y="1111641"/>
                    <a:pt x="0" y="1096192"/>
                    <a:pt x="0" y="1077135"/>
                  </a:cubicBezTo>
                  <a:lnTo>
                    <a:pt x="0" y="34506"/>
                  </a:lnTo>
                  <a:cubicBezTo>
                    <a:pt x="0" y="15449"/>
                    <a:pt x="15449" y="0"/>
                    <a:pt x="34506" y="0"/>
                  </a:cubicBezTo>
                  <a:close/>
                </a:path>
              </a:pathLst>
            </a:custGeom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0"/>
              <a:ext cx="1605130" cy="1302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800"/>
                </a:lnSpc>
              </a:pPr>
              <a:r>
                <a:rPr lang="en-US" b="true" sz="9000">
                  <a:gradFill>
                    <a:gsLst>
                      <a:gs pos="0">
                        <a:srgbClr val="023287">
                          <a:alpha val="85000"/>
                        </a:srgbClr>
                      </a:gs>
                      <a:gs pos="100000">
                        <a:srgbClr val="2B3E60">
                          <a:alpha val="85000"/>
                        </a:srgbClr>
                      </a:gs>
                    </a:gsLst>
                    <a:lin ang="0"/>
                  </a:gradFill>
                  <a:latin typeface="Calibri (MS) Bold"/>
                  <a:ea typeface="Calibri (MS) Bold"/>
                  <a:cs typeface="Calibri (MS) Bold"/>
                  <a:sym typeface="Calibri (MS) Bold"/>
                </a:rPr>
                <a:t>LIST OF</a:t>
              </a:r>
            </a:p>
            <a:p>
              <a:pPr algn="ctr" marL="0" indent="0" lvl="0">
                <a:lnSpc>
                  <a:spcPts val="10800"/>
                </a:lnSpc>
                <a:spcBef>
                  <a:spcPct val="0"/>
                </a:spcBef>
              </a:pPr>
              <a:r>
                <a:rPr lang="en-US" b="true" sz="9000">
                  <a:gradFill>
                    <a:gsLst>
                      <a:gs pos="0">
                        <a:srgbClr val="023287">
                          <a:alpha val="85000"/>
                        </a:srgbClr>
                      </a:gs>
                      <a:gs pos="100000">
                        <a:srgbClr val="2B3E60">
                          <a:alpha val="85000"/>
                        </a:srgbClr>
                      </a:gs>
                    </a:gsLst>
                    <a:lin ang="0"/>
                  </a:gradFill>
                  <a:latin typeface="Calibri (MS) Bold"/>
                  <a:ea typeface="Calibri (MS) Bold"/>
                  <a:cs typeface="Calibri (MS) Bold"/>
                  <a:sym typeface="Calibri (MS) Bold"/>
                </a:rPr>
                <a:t>COTENT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657871" y="2191576"/>
            <a:ext cx="787771" cy="53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4"/>
              </a:lnSpc>
            </a:pPr>
            <a:r>
              <a:rPr lang="en-US" b="true" sz="3503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657871" y="-143552"/>
            <a:ext cx="112004" cy="10479055"/>
            <a:chOff x="0" y="0"/>
            <a:chExt cx="11428" cy="10692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28" cy="1069236"/>
            </a:xfrm>
            <a:custGeom>
              <a:avLst/>
              <a:gdLst/>
              <a:ahLst/>
              <a:cxnLst/>
              <a:rect r="r" b="b" t="t" l="l"/>
              <a:pathLst>
                <a:path h="1069236" w="11428">
                  <a:moveTo>
                    <a:pt x="5714" y="0"/>
                  </a:moveTo>
                  <a:lnTo>
                    <a:pt x="5714" y="0"/>
                  </a:lnTo>
                  <a:cubicBezTo>
                    <a:pt x="8870" y="0"/>
                    <a:pt x="11428" y="2558"/>
                    <a:pt x="11428" y="5714"/>
                  </a:cubicBezTo>
                  <a:lnTo>
                    <a:pt x="11428" y="1063521"/>
                  </a:lnTo>
                  <a:cubicBezTo>
                    <a:pt x="11428" y="1066677"/>
                    <a:pt x="8870" y="1069236"/>
                    <a:pt x="5714" y="1069236"/>
                  </a:cubicBezTo>
                  <a:lnTo>
                    <a:pt x="5714" y="1069236"/>
                  </a:lnTo>
                  <a:cubicBezTo>
                    <a:pt x="4199" y="1069236"/>
                    <a:pt x="2745" y="1068634"/>
                    <a:pt x="1674" y="1067562"/>
                  </a:cubicBezTo>
                  <a:cubicBezTo>
                    <a:pt x="602" y="1066490"/>
                    <a:pt x="0" y="1065037"/>
                    <a:pt x="0" y="1063521"/>
                  </a:cubicBezTo>
                  <a:lnTo>
                    <a:pt x="0" y="5714"/>
                  </a:lnTo>
                  <a:cubicBezTo>
                    <a:pt x="0" y="4199"/>
                    <a:pt x="602" y="2745"/>
                    <a:pt x="1674" y="1674"/>
                  </a:cubicBezTo>
                  <a:cubicBezTo>
                    <a:pt x="2745" y="602"/>
                    <a:pt x="4199" y="0"/>
                    <a:pt x="5714" y="0"/>
                  </a:cubicBezTo>
                  <a:close/>
                </a:path>
              </a:pathLst>
            </a:custGeom>
            <a:blipFill>
              <a:blip r:embed="rId4"/>
              <a:stretch>
                <a:fillRect l="-7426252" t="0" r="-742625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777543" y="0"/>
            <a:ext cx="112004" cy="10479055"/>
            <a:chOff x="0" y="0"/>
            <a:chExt cx="11428" cy="10692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28" cy="1069236"/>
            </a:xfrm>
            <a:custGeom>
              <a:avLst/>
              <a:gdLst/>
              <a:ahLst/>
              <a:cxnLst/>
              <a:rect r="r" b="b" t="t" l="l"/>
              <a:pathLst>
                <a:path h="1069236" w="11428">
                  <a:moveTo>
                    <a:pt x="5714" y="0"/>
                  </a:moveTo>
                  <a:lnTo>
                    <a:pt x="5714" y="0"/>
                  </a:lnTo>
                  <a:cubicBezTo>
                    <a:pt x="8870" y="0"/>
                    <a:pt x="11428" y="2558"/>
                    <a:pt x="11428" y="5714"/>
                  </a:cubicBezTo>
                  <a:lnTo>
                    <a:pt x="11428" y="1063521"/>
                  </a:lnTo>
                  <a:cubicBezTo>
                    <a:pt x="11428" y="1066677"/>
                    <a:pt x="8870" y="1069236"/>
                    <a:pt x="5714" y="1069236"/>
                  </a:cubicBezTo>
                  <a:lnTo>
                    <a:pt x="5714" y="1069236"/>
                  </a:lnTo>
                  <a:cubicBezTo>
                    <a:pt x="4199" y="1069236"/>
                    <a:pt x="2745" y="1068634"/>
                    <a:pt x="1674" y="1067562"/>
                  </a:cubicBezTo>
                  <a:cubicBezTo>
                    <a:pt x="602" y="1066490"/>
                    <a:pt x="0" y="1065037"/>
                    <a:pt x="0" y="1063521"/>
                  </a:cubicBezTo>
                  <a:lnTo>
                    <a:pt x="0" y="5714"/>
                  </a:lnTo>
                  <a:cubicBezTo>
                    <a:pt x="0" y="4199"/>
                    <a:pt x="602" y="2745"/>
                    <a:pt x="1674" y="1674"/>
                  </a:cubicBezTo>
                  <a:cubicBezTo>
                    <a:pt x="2745" y="602"/>
                    <a:pt x="4199" y="0"/>
                    <a:pt x="5714" y="0"/>
                  </a:cubicBezTo>
                  <a:close/>
                </a:path>
              </a:pathLst>
            </a:custGeom>
            <a:blipFill>
              <a:blip r:embed="rId4"/>
              <a:stretch>
                <a:fillRect l="-7426252" t="0" r="-7426252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769875" y="0"/>
            <a:ext cx="9007669" cy="10287000"/>
            <a:chOff x="0" y="0"/>
            <a:chExt cx="2372390" cy="27093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7239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72390">
                  <a:moveTo>
                    <a:pt x="0" y="0"/>
                  </a:moveTo>
                  <a:lnTo>
                    <a:pt x="2372390" y="0"/>
                  </a:lnTo>
                  <a:lnTo>
                    <a:pt x="2372390" y="2709333"/>
                  </a:lnTo>
                  <a:lnTo>
                    <a:pt x="0" y="2709333"/>
                  </a:lnTo>
                  <a:close/>
                </a:path>
              </a:pathLst>
            </a:custGeom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372390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769875" y="0"/>
            <a:ext cx="9007669" cy="10287000"/>
            <a:chOff x="0" y="0"/>
            <a:chExt cx="2372390" cy="27093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7239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72390">
                  <a:moveTo>
                    <a:pt x="0" y="0"/>
                  </a:moveTo>
                  <a:lnTo>
                    <a:pt x="2372390" y="0"/>
                  </a:lnTo>
                  <a:lnTo>
                    <a:pt x="237239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48BA2">
                <a:alpha val="9804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372390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>
            <a:off x="2397500" y="3815006"/>
            <a:ext cx="5001865" cy="5955526"/>
          </a:xfrm>
          <a:custGeom>
            <a:avLst/>
            <a:gdLst/>
            <a:ahLst/>
            <a:cxnLst/>
            <a:rect r="r" b="b" t="t" l="l"/>
            <a:pathLst>
              <a:path h="5955526" w="5001865">
                <a:moveTo>
                  <a:pt x="0" y="5955526"/>
                </a:moveTo>
                <a:lnTo>
                  <a:pt x="3665158" y="5955526"/>
                </a:lnTo>
                <a:cubicBezTo>
                  <a:pt x="3725787" y="5955526"/>
                  <a:pt x="3783932" y="5931441"/>
                  <a:pt x="3826803" y="5888570"/>
                </a:cubicBezTo>
                <a:cubicBezTo>
                  <a:pt x="3869674" y="5845700"/>
                  <a:pt x="3893758" y="5787554"/>
                  <a:pt x="3893758" y="5726926"/>
                </a:cubicBezTo>
                <a:lnTo>
                  <a:pt x="3893758" y="228600"/>
                </a:lnTo>
                <a:cubicBezTo>
                  <a:pt x="3893758" y="167971"/>
                  <a:pt x="3917843" y="109826"/>
                  <a:pt x="3960713" y="66955"/>
                </a:cubicBezTo>
                <a:cubicBezTo>
                  <a:pt x="4003584" y="24084"/>
                  <a:pt x="4061730" y="0"/>
                  <a:pt x="4122359" y="0"/>
                </a:cubicBezTo>
                <a:lnTo>
                  <a:pt x="5001865" y="0"/>
                </a:lnTo>
              </a:path>
            </a:pathLst>
          </a:custGeom>
          <a:ln cap="rnd" w="38100">
            <a:solidFill>
              <a:srgbClr val="475569"/>
            </a:solidFill>
            <a:prstDash val="sysDash"/>
            <a:headEnd type="none" len="sm" w="sm"/>
            <a:tailEnd type="diamond" len="lg" w="lg"/>
          </a:ln>
        </p:spPr>
      </p:sp>
      <p:sp>
        <p:nvSpPr>
          <p:cNvPr name="Freeform 19" id="19"/>
          <p:cNvSpPr/>
          <p:nvPr/>
        </p:nvSpPr>
        <p:spPr>
          <a:xfrm flipH="false" flipV="true" rot="0">
            <a:off x="315164" y="7841815"/>
            <a:ext cx="1928717" cy="1928717"/>
          </a:xfrm>
          <a:custGeom>
            <a:avLst/>
            <a:gdLst/>
            <a:ahLst/>
            <a:cxnLst/>
            <a:rect r="r" b="b" t="t" l="l"/>
            <a:pathLst>
              <a:path h="1928717" w="1928717">
                <a:moveTo>
                  <a:pt x="0" y="1928717"/>
                </a:moveTo>
                <a:lnTo>
                  <a:pt x="1928717" y="1928717"/>
                </a:lnTo>
                <a:lnTo>
                  <a:pt x="1928717" y="0"/>
                </a:lnTo>
                <a:lnTo>
                  <a:pt x="0" y="0"/>
                </a:lnTo>
                <a:lnTo>
                  <a:pt x="0" y="192871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8445896" y="2283895"/>
            <a:ext cx="7655626" cy="5719210"/>
            <a:chOff x="0" y="0"/>
            <a:chExt cx="10207501" cy="7625614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1001787" y="-19050"/>
              <a:ext cx="9205714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555555">
                          <a:alpha val="100000"/>
                        </a:srgbClr>
                      </a:gs>
                    </a:gsLst>
                    <a:lin ang="0"/>
                  </a:gradFill>
                  <a:latin typeface="Arimo"/>
                  <a:ea typeface="Arimo"/>
                  <a:cs typeface="Arimo"/>
                  <a:sym typeface="Arimo"/>
                </a:rPr>
                <a:t>Threat Landscape &amp; Problem Statement</a:t>
              </a:r>
              <a:r>
                <a:rPr lang="en-US" b="true" sz="300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555555">
                          <a:alpha val="100000"/>
                        </a:srgbClr>
                      </a:gs>
                    </a:gsLst>
                    <a:lin ang="0"/>
                  </a:gra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001787" y="1739164"/>
              <a:ext cx="6851253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SOTA Guardrails &amp; Limitations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19050"/>
              <a:ext cx="56515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01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1739164"/>
              <a:ext cx="56515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02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001787" y="5244364"/>
              <a:ext cx="790614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Empirical Evaluation &amp; Robustness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3491764"/>
              <a:ext cx="56515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03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001787" y="3491764"/>
              <a:ext cx="7087195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Proposed Two-Tier Architecture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5244364"/>
              <a:ext cx="56515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04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001787" y="6996964"/>
              <a:ext cx="533697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Conclusion &amp; Roadmap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6996964"/>
              <a:ext cx="56515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05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728426" y="1082670"/>
            <a:ext cx="2939199" cy="3285690"/>
          </a:xfrm>
          <a:custGeom>
            <a:avLst/>
            <a:gdLst/>
            <a:ahLst/>
            <a:cxnLst/>
            <a:rect r="r" b="b" t="t" l="l"/>
            <a:pathLst>
              <a:path h="3285690" w="2939199">
                <a:moveTo>
                  <a:pt x="0" y="0"/>
                </a:moveTo>
                <a:lnTo>
                  <a:pt x="2939200" y="0"/>
                </a:lnTo>
                <a:lnTo>
                  <a:pt x="2939200" y="3285690"/>
                </a:lnTo>
                <a:lnTo>
                  <a:pt x="0" y="32856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392460" y="1564418"/>
            <a:ext cx="1611132" cy="2249042"/>
          </a:xfrm>
          <a:custGeom>
            <a:avLst/>
            <a:gdLst/>
            <a:ahLst/>
            <a:cxnLst/>
            <a:rect r="r" b="b" t="t" l="l"/>
            <a:pathLst>
              <a:path h="2249042" w="1611132">
                <a:moveTo>
                  <a:pt x="0" y="0"/>
                </a:moveTo>
                <a:lnTo>
                  <a:pt x="1611132" y="0"/>
                </a:lnTo>
                <a:lnTo>
                  <a:pt x="1611132" y="2249043"/>
                </a:lnTo>
                <a:lnTo>
                  <a:pt x="0" y="22490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1436" y="449142"/>
            <a:ext cx="1331712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2563E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lang="en-US" sz="1650" b="true">
                <a:solidFill>
                  <a:srgbClr val="2563E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OTA BENCHMARK &amp; ARCHITECTURAL PARETO TRADE-OFF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01436" y="789041"/>
            <a:ext cx="14937124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SOTA GUARDRAIL COMPARISON &amp; PARETO FRONTIER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36183" y="2242966"/>
            <a:ext cx="16768148" cy="6252530"/>
            <a:chOff x="0" y="0"/>
            <a:chExt cx="4416302" cy="16467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16302" cy="1646757"/>
            </a:xfrm>
            <a:custGeom>
              <a:avLst/>
              <a:gdLst/>
              <a:ahLst/>
              <a:cxnLst/>
              <a:rect r="r" b="b" t="t" l="l"/>
              <a:pathLst>
                <a:path h="1646757" w="4416302">
                  <a:moveTo>
                    <a:pt x="42938" y="0"/>
                  </a:moveTo>
                  <a:lnTo>
                    <a:pt x="4373364" y="0"/>
                  </a:lnTo>
                  <a:cubicBezTo>
                    <a:pt x="4384752" y="0"/>
                    <a:pt x="4395673" y="4524"/>
                    <a:pt x="4403726" y="12576"/>
                  </a:cubicBezTo>
                  <a:cubicBezTo>
                    <a:pt x="4411778" y="20629"/>
                    <a:pt x="4416302" y="31550"/>
                    <a:pt x="4416302" y="42938"/>
                  </a:cubicBezTo>
                  <a:lnTo>
                    <a:pt x="4416302" y="1603818"/>
                  </a:lnTo>
                  <a:cubicBezTo>
                    <a:pt x="4416302" y="1627533"/>
                    <a:pt x="4397078" y="1646757"/>
                    <a:pt x="4373364" y="1646757"/>
                  </a:cubicBezTo>
                  <a:lnTo>
                    <a:pt x="42938" y="1646757"/>
                  </a:lnTo>
                  <a:cubicBezTo>
                    <a:pt x="19224" y="1646757"/>
                    <a:pt x="0" y="1627533"/>
                    <a:pt x="0" y="1603818"/>
                  </a:cubicBezTo>
                  <a:lnTo>
                    <a:pt x="0" y="42938"/>
                  </a:lnTo>
                  <a:cubicBezTo>
                    <a:pt x="0" y="19224"/>
                    <a:pt x="19224" y="0"/>
                    <a:pt x="429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B1D6">
                    <a:alpha val="90000"/>
                  </a:srgbClr>
                </a:gs>
                <a:gs pos="100000">
                  <a:srgbClr val="4D77D6">
                    <a:alpha val="90000"/>
                  </a:srgbClr>
                </a:gs>
              </a:gsLst>
              <a:lin ang="0"/>
            </a:gradFill>
            <a:ln w="19050" cap="rnd">
              <a:solidFill>
                <a:srgbClr val="D0D7DD">
                  <a:alpha val="89804"/>
                </a:srgbClr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4416302" cy="1675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5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3358551" y="2571846"/>
            <a:ext cx="0" cy="5754644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962650" y="3143749"/>
            <a:ext cx="219128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3523398" y="3153274"/>
            <a:ext cx="3217911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6969909" y="2478475"/>
            <a:ext cx="0" cy="580070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326950" y="2670675"/>
            <a:ext cx="2257905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CRITERIA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2650" y="3475168"/>
            <a:ext cx="2257905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Model Paradigm</a:t>
            </a:r>
          </a:p>
        </p:txBody>
      </p:sp>
      <p:sp>
        <p:nvSpPr>
          <p:cNvPr name="AutoShape 13" id="13"/>
          <p:cNvSpPr/>
          <p:nvPr/>
        </p:nvSpPr>
        <p:spPr>
          <a:xfrm>
            <a:off x="982908" y="4091117"/>
            <a:ext cx="219128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982908" y="4329269"/>
            <a:ext cx="1493252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Hardware </a:t>
            </a:r>
          </a:p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Footprint</a:t>
            </a:r>
          </a:p>
        </p:txBody>
      </p:sp>
      <p:sp>
        <p:nvSpPr>
          <p:cNvPr name="AutoShape 15" id="15"/>
          <p:cNvSpPr/>
          <p:nvPr/>
        </p:nvSpPr>
        <p:spPr>
          <a:xfrm>
            <a:off x="982908" y="5145243"/>
            <a:ext cx="219128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982908" y="5349066"/>
            <a:ext cx="1321613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Inference </a:t>
            </a:r>
          </a:p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Latency</a:t>
            </a:r>
          </a:p>
        </p:txBody>
      </p:sp>
      <p:sp>
        <p:nvSpPr>
          <p:cNvPr name="AutoShape 17" id="17"/>
          <p:cNvSpPr/>
          <p:nvPr/>
        </p:nvSpPr>
        <p:spPr>
          <a:xfrm>
            <a:off x="962650" y="6199343"/>
            <a:ext cx="219128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982908" y="6437468"/>
            <a:ext cx="1912612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False Positive Rate</a:t>
            </a:r>
          </a:p>
        </p:txBody>
      </p:sp>
      <p:sp>
        <p:nvSpPr>
          <p:cNvPr name="AutoShape 19" id="19"/>
          <p:cNvSpPr/>
          <p:nvPr/>
        </p:nvSpPr>
        <p:spPr>
          <a:xfrm>
            <a:off x="942393" y="7253443"/>
            <a:ext cx="219128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982908" y="7491568"/>
            <a:ext cx="2257905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Adversarial Resilience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584855" y="2670675"/>
            <a:ext cx="3148395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M</a:t>
            </a: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ETA LLAMA GUARD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971646" y="3303615"/>
            <a:ext cx="2385168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Generative SLM (7B/8B)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057465" y="4294966"/>
            <a:ext cx="2213529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Heavy GPU (≥ 16GB VRAM)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19983" y="5349066"/>
            <a:ext cx="1888493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1,200 – 2,500 ms (High)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358382" y="6365079"/>
            <a:ext cx="1912612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Moderate (~3.5%)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35277" y="7457265"/>
            <a:ext cx="2257905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Vulnerable to Framing</a:t>
            </a:r>
          </a:p>
        </p:txBody>
      </p:sp>
      <p:sp>
        <p:nvSpPr>
          <p:cNvPr name="AutoShape 27" id="27"/>
          <p:cNvSpPr/>
          <p:nvPr/>
        </p:nvSpPr>
        <p:spPr>
          <a:xfrm>
            <a:off x="3596558" y="4056828"/>
            <a:ext cx="3144751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3596558" y="5110954"/>
            <a:ext cx="3144751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3567486" y="6165054"/>
            <a:ext cx="3144751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3538415" y="7219153"/>
            <a:ext cx="3144751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7198509" y="3153274"/>
            <a:ext cx="224928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9676392" y="2478475"/>
            <a:ext cx="0" cy="580070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7434338" y="2670675"/>
            <a:ext cx="3148395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NVIDI</a:t>
            </a: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 NeMo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434338" y="3327530"/>
            <a:ext cx="2385168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Rule-based (Colang)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434338" y="4294966"/>
            <a:ext cx="2213529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Lightweight CPU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434338" y="5496703"/>
            <a:ext cx="1888493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15 – 45 ms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434338" y="6403165"/>
            <a:ext cx="1912612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High Alarms (~5.8%)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34338" y="7457265"/>
            <a:ext cx="2257905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Fails on Leetspeak</a:t>
            </a:r>
          </a:p>
        </p:txBody>
      </p:sp>
      <p:sp>
        <p:nvSpPr>
          <p:cNvPr name="AutoShape 39" id="39"/>
          <p:cNvSpPr/>
          <p:nvPr/>
        </p:nvSpPr>
        <p:spPr>
          <a:xfrm>
            <a:off x="7249646" y="4056828"/>
            <a:ext cx="2198145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7249646" y="5110954"/>
            <a:ext cx="2198145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7229326" y="6165054"/>
            <a:ext cx="2198145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7209005" y="7219153"/>
            <a:ext cx="2198145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9938569" y="3153274"/>
            <a:ext cx="3309864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>
            <a:off x="13523192" y="2525786"/>
            <a:ext cx="0" cy="580070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10678624" y="2474562"/>
            <a:ext cx="1842335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PROT</a:t>
            </a: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ECTAI</a:t>
            </a:r>
          </a:p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 DeBERTa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849915" y="3327530"/>
            <a:ext cx="1499754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Sequence Classifier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538461" y="4256853"/>
            <a:ext cx="2122662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CPU / Low-tier GPU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655545" y="5349066"/>
            <a:ext cx="1888493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35 – 75 ms (Queue risk)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735560" y="6365079"/>
            <a:ext cx="1785399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Severe Overdefense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470839" y="7466803"/>
            <a:ext cx="2257905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Vulnerable to Mutators</a:t>
            </a:r>
          </a:p>
        </p:txBody>
      </p:sp>
      <p:sp>
        <p:nvSpPr>
          <p:cNvPr name="AutoShape 51" id="51"/>
          <p:cNvSpPr/>
          <p:nvPr/>
        </p:nvSpPr>
        <p:spPr>
          <a:xfrm>
            <a:off x="10013819" y="4056828"/>
            <a:ext cx="3234614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>
            <a:off x="10013819" y="5110954"/>
            <a:ext cx="3234614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>
            <a:off x="9983916" y="6165054"/>
            <a:ext cx="3234614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>
            <a:off x="13656542" y="3153274"/>
            <a:ext cx="3456036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5" id="55"/>
          <p:cNvSpPr txBox="true"/>
          <p:nvPr/>
        </p:nvSpPr>
        <p:spPr>
          <a:xfrm rot="0">
            <a:off x="14141649" y="2474562"/>
            <a:ext cx="1970922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🛡️</a:t>
            </a: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 PI-GUARD (PROPOSED)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754938" y="3303615"/>
            <a:ext cx="3394579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Two-Tier Cascade (LinearSVC + DeBERTa)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813248" y="4205315"/>
            <a:ext cx="2431608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100% Native CPU ($0 GPU Cost)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813248" y="5280213"/>
            <a:ext cx="2431608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P95 &lt; 25 ms (T1 fast-filter &lt; 1.0ms)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856567" y="6355554"/>
            <a:ext cx="3363356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Ultra-low (&lt; 1.5%) (Calibrated on NotInject)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043591" y="7405741"/>
            <a:ext cx="2167038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b="true" sz="2499" spc="-11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Multi-Layered Char n-gram + Disentangled)</a:t>
            </a:r>
          </a:p>
        </p:txBody>
      </p:sp>
      <p:sp>
        <p:nvSpPr>
          <p:cNvPr name="AutoShape 61" id="61"/>
          <p:cNvSpPr/>
          <p:nvPr/>
        </p:nvSpPr>
        <p:spPr>
          <a:xfrm>
            <a:off x="13656542" y="4014815"/>
            <a:ext cx="337746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>
            <a:off x="13656542" y="5025216"/>
            <a:ext cx="337746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>
            <a:off x="13703892" y="6165054"/>
            <a:ext cx="337746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>
            <a:off x="9938569" y="7228678"/>
            <a:ext cx="3234614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>
            <a:off x="13656542" y="7167616"/>
            <a:ext cx="337746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6" id="66"/>
          <p:cNvGrpSpPr/>
          <p:nvPr/>
        </p:nvGrpSpPr>
        <p:grpSpPr>
          <a:xfrm rot="5400000">
            <a:off x="9108007" y="1072396"/>
            <a:ext cx="81273" cy="16711374"/>
            <a:chOff x="0" y="0"/>
            <a:chExt cx="5200" cy="106923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200" cy="1069236"/>
            </a:xfrm>
            <a:custGeom>
              <a:avLst/>
              <a:gdLst/>
              <a:ahLst/>
              <a:cxnLst/>
              <a:rect r="r" b="b" t="t" l="l"/>
              <a:pathLst>
                <a:path h="1069236" w="5200">
                  <a:moveTo>
                    <a:pt x="2600" y="0"/>
                  </a:moveTo>
                  <a:lnTo>
                    <a:pt x="2600" y="0"/>
                  </a:lnTo>
                  <a:cubicBezTo>
                    <a:pt x="3290" y="0"/>
                    <a:pt x="3951" y="274"/>
                    <a:pt x="4439" y="762"/>
                  </a:cubicBezTo>
                  <a:cubicBezTo>
                    <a:pt x="4926" y="1249"/>
                    <a:pt x="5200" y="1910"/>
                    <a:pt x="5200" y="2600"/>
                  </a:cubicBezTo>
                  <a:lnTo>
                    <a:pt x="5200" y="1066636"/>
                  </a:lnTo>
                  <a:cubicBezTo>
                    <a:pt x="5200" y="1068072"/>
                    <a:pt x="4036" y="1069236"/>
                    <a:pt x="2600" y="1069236"/>
                  </a:cubicBezTo>
                  <a:lnTo>
                    <a:pt x="2600" y="1069236"/>
                  </a:lnTo>
                  <a:cubicBezTo>
                    <a:pt x="1164" y="1069236"/>
                    <a:pt x="0" y="1068072"/>
                    <a:pt x="0" y="1066636"/>
                  </a:cubicBezTo>
                  <a:lnTo>
                    <a:pt x="0" y="2600"/>
                  </a:lnTo>
                  <a:cubicBezTo>
                    <a:pt x="0" y="1164"/>
                    <a:pt x="1164" y="0"/>
                    <a:pt x="2600" y="0"/>
                  </a:cubicBezTo>
                  <a:close/>
                </a:path>
              </a:pathLst>
            </a:custGeom>
            <a:blipFill>
              <a:blip r:embed="rId2"/>
              <a:stretch>
                <a:fillRect l="-16380911" t="0" r="-16380911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28634" y="-1931546"/>
            <a:ext cx="22188662" cy="18920878"/>
          </a:xfrm>
          <a:custGeom>
            <a:avLst/>
            <a:gdLst/>
            <a:ahLst/>
            <a:cxnLst/>
            <a:rect r="r" b="b" t="t" l="l"/>
            <a:pathLst>
              <a:path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42189" y="6507438"/>
            <a:ext cx="4711673" cy="3263094"/>
            <a:chOff x="0" y="0"/>
            <a:chExt cx="1605130" cy="11116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05130" cy="1111641"/>
            </a:xfrm>
            <a:custGeom>
              <a:avLst/>
              <a:gdLst/>
              <a:ahLst/>
              <a:cxnLst/>
              <a:rect r="r" b="b" t="t" l="l"/>
              <a:pathLst>
                <a:path h="1111641" w="1605130">
                  <a:moveTo>
                    <a:pt x="34506" y="0"/>
                  </a:moveTo>
                  <a:lnTo>
                    <a:pt x="1570624" y="0"/>
                  </a:lnTo>
                  <a:cubicBezTo>
                    <a:pt x="1589681" y="0"/>
                    <a:pt x="1605130" y="15449"/>
                    <a:pt x="1605130" y="34506"/>
                  </a:cubicBezTo>
                  <a:lnTo>
                    <a:pt x="1605130" y="1077135"/>
                  </a:lnTo>
                  <a:cubicBezTo>
                    <a:pt x="1605130" y="1086287"/>
                    <a:pt x="1601495" y="1095064"/>
                    <a:pt x="1595023" y="1101535"/>
                  </a:cubicBezTo>
                  <a:cubicBezTo>
                    <a:pt x="1588552" y="1108006"/>
                    <a:pt x="1579776" y="1111641"/>
                    <a:pt x="1570624" y="1111641"/>
                  </a:cubicBezTo>
                  <a:lnTo>
                    <a:pt x="34506" y="1111641"/>
                  </a:lnTo>
                  <a:cubicBezTo>
                    <a:pt x="15449" y="1111641"/>
                    <a:pt x="0" y="1096192"/>
                    <a:pt x="0" y="1077135"/>
                  </a:cubicBezTo>
                  <a:lnTo>
                    <a:pt x="0" y="34506"/>
                  </a:lnTo>
                  <a:cubicBezTo>
                    <a:pt x="0" y="15449"/>
                    <a:pt x="15449" y="0"/>
                    <a:pt x="34506" y="0"/>
                  </a:cubicBezTo>
                  <a:close/>
                </a:path>
              </a:pathLst>
            </a:custGeom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0"/>
              <a:ext cx="1605130" cy="1302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800"/>
                </a:lnSpc>
              </a:pPr>
              <a:r>
                <a:rPr lang="en-US" b="true" sz="9000">
                  <a:gradFill>
                    <a:gsLst>
                      <a:gs pos="0">
                        <a:srgbClr val="023287">
                          <a:alpha val="85000"/>
                        </a:srgbClr>
                      </a:gs>
                      <a:gs pos="100000">
                        <a:srgbClr val="2B3E60">
                          <a:alpha val="85000"/>
                        </a:srgbClr>
                      </a:gs>
                    </a:gsLst>
                    <a:lin ang="0"/>
                  </a:gradFill>
                  <a:latin typeface="Calibri (MS) Bold"/>
                  <a:ea typeface="Calibri (MS) Bold"/>
                  <a:cs typeface="Calibri (MS) Bold"/>
                  <a:sym typeface="Calibri (MS) Bold"/>
                </a:rPr>
                <a:t>LIST OF</a:t>
              </a:r>
            </a:p>
            <a:p>
              <a:pPr algn="ctr" marL="0" indent="0" lvl="0">
                <a:lnSpc>
                  <a:spcPts val="10800"/>
                </a:lnSpc>
                <a:spcBef>
                  <a:spcPct val="0"/>
                </a:spcBef>
              </a:pPr>
              <a:r>
                <a:rPr lang="en-US" b="true" sz="9000">
                  <a:gradFill>
                    <a:gsLst>
                      <a:gs pos="0">
                        <a:srgbClr val="023287">
                          <a:alpha val="85000"/>
                        </a:srgbClr>
                      </a:gs>
                      <a:gs pos="100000">
                        <a:srgbClr val="2B3E60">
                          <a:alpha val="85000"/>
                        </a:srgbClr>
                      </a:gs>
                    </a:gsLst>
                    <a:lin ang="0"/>
                  </a:gradFill>
                  <a:latin typeface="Calibri (MS) Bold"/>
                  <a:ea typeface="Calibri (MS) Bold"/>
                  <a:cs typeface="Calibri (MS) Bold"/>
                  <a:sym typeface="Calibri (MS) Bold"/>
                </a:rPr>
                <a:t>COTENT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657871" y="2191576"/>
            <a:ext cx="787771" cy="53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4"/>
              </a:lnSpc>
            </a:pPr>
            <a:r>
              <a:rPr lang="en-US" b="true" sz="3503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657871" y="-143552"/>
            <a:ext cx="112004" cy="10479055"/>
            <a:chOff x="0" y="0"/>
            <a:chExt cx="11428" cy="10692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28" cy="1069236"/>
            </a:xfrm>
            <a:custGeom>
              <a:avLst/>
              <a:gdLst/>
              <a:ahLst/>
              <a:cxnLst/>
              <a:rect r="r" b="b" t="t" l="l"/>
              <a:pathLst>
                <a:path h="1069236" w="11428">
                  <a:moveTo>
                    <a:pt x="5714" y="0"/>
                  </a:moveTo>
                  <a:lnTo>
                    <a:pt x="5714" y="0"/>
                  </a:lnTo>
                  <a:cubicBezTo>
                    <a:pt x="8870" y="0"/>
                    <a:pt x="11428" y="2558"/>
                    <a:pt x="11428" y="5714"/>
                  </a:cubicBezTo>
                  <a:lnTo>
                    <a:pt x="11428" y="1063521"/>
                  </a:lnTo>
                  <a:cubicBezTo>
                    <a:pt x="11428" y="1066677"/>
                    <a:pt x="8870" y="1069236"/>
                    <a:pt x="5714" y="1069236"/>
                  </a:cubicBezTo>
                  <a:lnTo>
                    <a:pt x="5714" y="1069236"/>
                  </a:lnTo>
                  <a:cubicBezTo>
                    <a:pt x="4199" y="1069236"/>
                    <a:pt x="2745" y="1068634"/>
                    <a:pt x="1674" y="1067562"/>
                  </a:cubicBezTo>
                  <a:cubicBezTo>
                    <a:pt x="602" y="1066490"/>
                    <a:pt x="0" y="1065037"/>
                    <a:pt x="0" y="1063521"/>
                  </a:cubicBezTo>
                  <a:lnTo>
                    <a:pt x="0" y="5714"/>
                  </a:lnTo>
                  <a:cubicBezTo>
                    <a:pt x="0" y="4199"/>
                    <a:pt x="602" y="2745"/>
                    <a:pt x="1674" y="1674"/>
                  </a:cubicBezTo>
                  <a:cubicBezTo>
                    <a:pt x="2745" y="602"/>
                    <a:pt x="4199" y="0"/>
                    <a:pt x="5714" y="0"/>
                  </a:cubicBezTo>
                  <a:close/>
                </a:path>
              </a:pathLst>
            </a:custGeom>
            <a:blipFill>
              <a:blip r:embed="rId4"/>
              <a:stretch>
                <a:fillRect l="-7426252" t="0" r="-742625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777543" y="0"/>
            <a:ext cx="112004" cy="10479055"/>
            <a:chOff x="0" y="0"/>
            <a:chExt cx="11428" cy="10692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28" cy="1069236"/>
            </a:xfrm>
            <a:custGeom>
              <a:avLst/>
              <a:gdLst/>
              <a:ahLst/>
              <a:cxnLst/>
              <a:rect r="r" b="b" t="t" l="l"/>
              <a:pathLst>
                <a:path h="1069236" w="11428">
                  <a:moveTo>
                    <a:pt x="5714" y="0"/>
                  </a:moveTo>
                  <a:lnTo>
                    <a:pt x="5714" y="0"/>
                  </a:lnTo>
                  <a:cubicBezTo>
                    <a:pt x="8870" y="0"/>
                    <a:pt x="11428" y="2558"/>
                    <a:pt x="11428" y="5714"/>
                  </a:cubicBezTo>
                  <a:lnTo>
                    <a:pt x="11428" y="1063521"/>
                  </a:lnTo>
                  <a:cubicBezTo>
                    <a:pt x="11428" y="1066677"/>
                    <a:pt x="8870" y="1069236"/>
                    <a:pt x="5714" y="1069236"/>
                  </a:cubicBezTo>
                  <a:lnTo>
                    <a:pt x="5714" y="1069236"/>
                  </a:lnTo>
                  <a:cubicBezTo>
                    <a:pt x="4199" y="1069236"/>
                    <a:pt x="2745" y="1068634"/>
                    <a:pt x="1674" y="1067562"/>
                  </a:cubicBezTo>
                  <a:cubicBezTo>
                    <a:pt x="602" y="1066490"/>
                    <a:pt x="0" y="1065037"/>
                    <a:pt x="0" y="1063521"/>
                  </a:cubicBezTo>
                  <a:lnTo>
                    <a:pt x="0" y="5714"/>
                  </a:lnTo>
                  <a:cubicBezTo>
                    <a:pt x="0" y="4199"/>
                    <a:pt x="602" y="2745"/>
                    <a:pt x="1674" y="1674"/>
                  </a:cubicBezTo>
                  <a:cubicBezTo>
                    <a:pt x="2745" y="602"/>
                    <a:pt x="4199" y="0"/>
                    <a:pt x="5714" y="0"/>
                  </a:cubicBezTo>
                  <a:close/>
                </a:path>
              </a:pathLst>
            </a:custGeom>
            <a:blipFill>
              <a:blip r:embed="rId4"/>
              <a:stretch>
                <a:fillRect l="-7426252" t="0" r="-7426252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769875" y="0"/>
            <a:ext cx="9007669" cy="10287000"/>
            <a:chOff x="0" y="0"/>
            <a:chExt cx="2372390" cy="27093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7239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72390">
                  <a:moveTo>
                    <a:pt x="0" y="0"/>
                  </a:moveTo>
                  <a:lnTo>
                    <a:pt x="2372390" y="0"/>
                  </a:lnTo>
                  <a:lnTo>
                    <a:pt x="2372390" y="2709333"/>
                  </a:lnTo>
                  <a:lnTo>
                    <a:pt x="0" y="2709333"/>
                  </a:lnTo>
                  <a:close/>
                </a:path>
              </a:pathLst>
            </a:custGeom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372390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769875" y="0"/>
            <a:ext cx="9007669" cy="10287000"/>
            <a:chOff x="0" y="0"/>
            <a:chExt cx="2372390" cy="27093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7239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72390">
                  <a:moveTo>
                    <a:pt x="0" y="0"/>
                  </a:moveTo>
                  <a:lnTo>
                    <a:pt x="2372390" y="0"/>
                  </a:lnTo>
                  <a:lnTo>
                    <a:pt x="237239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48BA2">
                <a:alpha val="9804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372390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>
            <a:off x="2397500" y="5095975"/>
            <a:ext cx="5001865" cy="4674556"/>
          </a:xfrm>
          <a:custGeom>
            <a:avLst/>
            <a:gdLst/>
            <a:ahLst/>
            <a:cxnLst/>
            <a:rect r="r" b="b" t="t" l="l"/>
            <a:pathLst>
              <a:path h="4674556" w="5001865">
                <a:moveTo>
                  <a:pt x="0" y="4674557"/>
                </a:moveTo>
                <a:lnTo>
                  <a:pt x="3665158" y="4674557"/>
                </a:lnTo>
                <a:cubicBezTo>
                  <a:pt x="3725787" y="4674557"/>
                  <a:pt x="3783932" y="4650472"/>
                  <a:pt x="3826803" y="4607601"/>
                </a:cubicBezTo>
                <a:cubicBezTo>
                  <a:pt x="3869674" y="4564731"/>
                  <a:pt x="3893758" y="4506585"/>
                  <a:pt x="3893758" y="4445957"/>
                </a:cubicBezTo>
                <a:lnTo>
                  <a:pt x="3893758" y="228600"/>
                </a:lnTo>
                <a:cubicBezTo>
                  <a:pt x="3893758" y="167972"/>
                  <a:pt x="3917843" y="109827"/>
                  <a:pt x="3960713" y="66956"/>
                </a:cubicBezTo>
                <a:cubicBezTo>
                  <a:pt x="4003584" y="24085"/>
                  <a:pt x="4061730" y="0"/>
                  <a:pt x="4122359" y="0"/>
                </a:cubicBezTo>
                <a:lnTo>
                  <a:pt x="5001865" y="0"/>
                </a:lnTo>
              </a:path>
            </a:pathLst>
          </a:custGeom>
          <a:ln cap="rnd" w="38100">
            <a:solidFill>
              <a:srgbClr val="475569"/>
            </a:solidFill>
            <a:prstDash val="sysDash"/>
            <a:headEnd type="none" len="sm" w="sm"/>
            <a:tailEnd type="diamond" len="lg" w="lg"/>
          </a:ln>
        </p:spPr>
      </p:sp>
      <p:sp>
        <p:nvSpPr>
          <p:cNvPr name="Freeform 19" id="19"/>
          <p:cNvSpPr/>
          <p:nvPr/>
        </p:nvSpPr>
        <p:spPr>
          <a:xfrm flipH="false" flipV="true" rot="0">
            <a:off x="315164" y="7841815"/>
            <a:ext cx="1928717" cy="1928717"/>
          </a:xfrm>
          <a:custGeom>
            <a:avLst/>
            <a:gdLst/>
            <a:ahLst/>
            <a:cxnLst/>
            <a:rect r="r" b="b" t="t" l="l"/>
            <a:pathLst>
              <a:path h="1928717" w="1928717">
                <a:moveTo>
                  <a:pt x="0" y="1928717"/>
                </a:moveTo>
                <a:lnTo>
                  <a:pt x="1928717" y="1928717"/>
                </a:lnTo>
                <a:lnTo>
                  <a:pt x="1928717" y="0"/>
                </a:lnTo>
                <a:lnTo>
                  <a:pt x="0" y="0"/>
                </a:lnTo>
                <a:lnTo>
                  <a:pt x="0" y="192871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28426" y="1082670"/>
            <a:ext cx="2939199" cy="3285690"/>
          </a:xfrm>
          <a:custGeom>
            <a:avLst/>
            <a:gdLst/>
            <a:ahLst/>
            <a:cxnLst/>
            <a:rect r="r" b="b" t="t" l="l"/>
            <a:pathLst>
              <a:path h="3285690" w="2939199">
                <a:moveTo>
                  <a:pt x="0" y="0"/>
                </a:moveTo>
                <a:lnTo>
                  <a:pt x="2939200" y="0"/>
                </a:lnTo>
                <a:lnTo>
                  <a:pt x="2939200" y="3285690"/>
                </a:lnTo>
                <a:lnTo>
                  <a:pt x="0" y="32856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392460" y="1564418"/>
            <a:ext cx="1611132" cy="2249042"/>
          </a:xfrm>
          <a:custGeom>
            <a:avLst/>
            <a:gdLst/>
            <a:ahLst/>
            <a:cxnLst/>
            <a:rect r="r" b="b" t="t" l="l"/>
            <a:pathLst>
              <a:path h="2249042" w="1611132">
                <a:moveTo>
                  <a:pt x="0" y="0"/>
                </a:moveTo>
                <a:lnTo>
                  <a:pt x="1611132" y="0"/>
                </a:lnTo>
                <a:lnTo>
                  <a:pt x="1611132" y="2249043"/>
                </a:lnTo>
                <a:lnTo>
                  <a:pt x="0" y="22490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445896" y="2283895"/>
            <a:ext cx="7655626" cy="5719210"/>
            <a:chOff x="0" y="0"/>
            <a:chExt cx="10207501" cy="7625614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1001787" y="-19050"/>
              <a:ext cx="9205714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555555">
                          <a:alpha val="100000"/>
                        </a:srgbClr>
                      </a:gs>
                    </a:gsLst>
                    <a:lin ang="0"/>
                  </a:gradFill>
                  <a:latin typeface="Arimo"/>
                  <a:ea typeface="Arimo"/>
                  <a:cs typeface="Arimo"/>
                  <a:sym typeface="Arimo"/>
                </a:rPr>
                <a:t>Threat Landscape &amp; Problem Statement</a:t>
              </a:r>
              <a:r>
                <a:rPr lang="en-US" b="true" sz="300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555555">
                          <a:alpha val="100000"/>
                        </a:srgbClr>
                      </a:gs>
                    </a:gsLst>
                    <a:lin ang="0"/>
                  </a:gra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001787" y="1739164"/>
              <a:ext cx="6851253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SOTA Guardrails &amp; Limitations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-19050"/>
              <a:ext cx="56515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01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739164"/>
              <a:ext cx="56515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02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001787" y="5244364"/>
              <a:ext cx="790614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Empirical Evaluation &amp; Robustness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3491764"/>
              <a:ext cx="56515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03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001787" y="3491764"/>
              <a:ext cx="7087195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Proposed Two-Tier Architecture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5244364"/>
              <a:ext cx="56515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04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001787" y="6996964"/>
              <a:ext cx="533697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Conclusion &amp; Roadmap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6996964"/>
              <a:ext cx="56515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5099392" cy="109814"/>
            <a:chOff x="0" y="0"/>
            <a:chExt cx="20132523" cy="1464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32548" cy="146431"/>
            </a:xfrm>
            <a:custGeom>
              <a:avLst/>
              <a:gdLst/>
              <a:ahLst/>
              <a:cxnLst/>
              <a:rect r="r" b="b" t="t" l="l"/>
              <a:pathLst>
                <a:path h="146431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2057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099392" y="0"/>
            <a:ext cx="3202448" cy="109814"/>
            <a:chOff x="0" y="0"/>
            <a:chExt cx="4269930" cy="1464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69867" cy="146431"/>
            </a:xfrm>
            <a:custGeom>
              <a:avLst/>
              <a:gdLst/>
              <a:ahLst/>
              <a:cxnLst/>
              <a:rect r="r" b="b" t="t" l="l"/>
              <a:pathLst>
                <a:path h="146431" w="4269867">
                  <a:moveTo>
                    <a:pt x="0" y="0"/>
                  </a:moveTo>
                  <a:lnTo>
                    <a:pt x="4269867" y="0"/>
                  </a:lnTo>
                  <a:lnTo>
                    <a:pt x="426986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F9B31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4571" y="740674"/>
            <a:ext cx="6879432" cy="8467668"/>
            <a:chOff x="0" y="0"/>
            <a:chExt cx="9172575" cy="112902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72549" cy="11290236"/>
            </a:xfrm>
            <a:custGeom>
              <a:avLst/>
              <a:gdLst/>
              <a:ahLst/>
              <a:cxnLst/>
              <a:rect r="r" b="b" t="t" l="l"/>
              <a:pathLst>
                <a:path h="11290236" w="9172549">
                  <a:moveTo>
                    <a:pt x="0" y="0"/>
                  </a:moveTo>
                  <a:lnTo>
                    <a:pt x="9172549" y="0"/>
                  </a:lnTo>
                  <a:lnTo>
                    <a:pt x="9172549" y="11290236"/>
                  </a:lnTo>
                  <a:lnTo>
                    <a:pt x="0" y="11290236"/>
                  </a:lnTo>
                  <a:close/>
                </a:path>
              </a:pathLst>
            </a:custGeom>
            <a:solidFill>
              <a:srgbClr val="02057E"/>
            </a:solidFill>
            <a:ln w="28597" cap="sq">
              <a:solidFill>
                <a:srgbClr val="F9B314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9172575" cy="11290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4200" strike="noStrike" u="none">
                  <a:solidFill>
                    <a:srgbClr val="F9B314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PART 03:</a:t>
              </a:r>
            </a:p>
            <a:p>
              <a:pPr algn="l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4200" strike="noStrike" u="none">
                  <a:solidFill>
                    <a:srgbClr val="F9B314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RESEARCH FOCUS</a:t>
              </a:r>
            </a:p>
            <a:p>
              <a:pPr algn="l" marL="0" indent="0" lvl="0">
                <a:lnSpc>
                  <a:spcPts val="5040"/>
                </a:lnSpc>
                <a:spcBef>
                  <a:spcPct val="0"/>
                </a:spcBef>
              </a:pPr>
              <a:r>
                <a:rPr lang="en-US" b="true" sz="4200" strike="noStrike" u="none">
                  <a:solidFill>
                    <a:srgbClr val="F9B314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EXPERIMENT ĐỐI CHIẾU, CROSS-TESTING &amp; WORKAROUND RESILIENCE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812796" y="743531"/>
            <a:ext cx="9398232" cy="8464810"/>
            <a:chOff x="0" y="0"/>
            <a:chExt cx="12530976" cy="112864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30963" cy="11286363"/>
            </a:xfrm>
            <a:custGeom>
              <a:avLst/>
              <a:gdLst/>
              <a:ahLst/>
              <a:cxnLst/>
              <a:rect r="r" b="b" t="t" l="l"/>
              <a:pathLst>
                <a:path h="11286363" w="12530963">
                  <a:moveTo>
                    <a:pt x="0" y="0"/>
                  </a:moveTo>
                  <a:lnTo>
                    <a:pt x="12530963" y="0"/>
                  </a:lnTo>
                  <a:lnTo>
                    <a:pt x="12530963" y="11286363"/>
                  </a:lnTo>
                  <a:lnTo>
                    <a:pt x="0" y="11286363"/>
                  </a:lnTo>
                  <a:close/>
                </a:path>
              </a:pathLst>
            </a:custGeom>
            <a:solidFill>
              <a:srgbClr val="F8FAFC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100814" y="1049330"/>
            <a:ext cx="7804414" cy="1319291"/>
            <a:chOff x="0" y="0"/>
            <a:chExt cx="10405885" cy="175905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05873" cy="1759080"/>
            </a:xfrm>
            <a:custGeom>
              <a:avLst/>
              <a:gdLst/>
              <a:ahLst/>
              <a:cxnLst/>
              <a:rect r="r" b="b" t="t" l="l"/>
              <a:pathLst>
                <a:path h="1759080" w="10405873">
                  <a:moveTo>
                    <a:pt x="0" y="0"/>
                  </a:moveTo>
                  <a:lnTo>
                    <a:pt x="10405873" y="0"/>
                  </a:lnTo>
                  <a:lnTo>
                    <a:pt x="10405873" y="1759080"/>
                  </a:lnTo>
                  <a:lnTo>
                    <a:pt x="0" y="1759080"/>
                  </a:ln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0405885" cy="1759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101828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OVERVIEW, SECURITY CRISIS &amp; BỀ MẶT ATTACK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304667" y="1304039"/>
            <a:ext cx="796147" cy="796147"/>
            <a:chOff x="0" y="0"/>
            <a:chExt cx="1061530" cy="10615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0"/>
                  </a:moveTo>
                  <a:lnTo>
                    <a:pt x="1061593" y="0"/>
                  </a:lnTo>
                  <a:lnTo>
                    <a:pt x="1061593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061530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64748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01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50920" y="2669085"/>
            <a:ext cx="7754307" cy="1319291"/>
            <a:chOff x="0" y="0"/>
            <a:chExt cx="10339076" cy="175905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339065" cy="1759080"/>
            </a:xfrm>
            <a:custGeom>
              <a:avLst/>
              <a:gdLst/>
              <a:ahLst/>
              <a:cxnLst/>
              <a:rect r="r" b="b" t="t" l="l"/>
              <a:pathLst>
                <a:path h="1759080" w="10339065">
                  <a:moveTo>
                    <a:pt x="0" y="0"/>
                  </a:moveTo>
                  <a:lnTo>
                    <a:pt x="10339065" y="0"/>
                  </a:lnTo>
                  <a:lnTo>
                    <a:pt x="10339065" y="1759080"/>
                  </a:lnTo>
                  <a:lnTo>
                    <a:pt x="0" y="1759080"/>
                  </a:ln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0339076" cy="1759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101828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SURVEY SOTA, SINGLE-TIER GUARDRAIL LIMITATIONS &amp; OPTIMAL TRADEOFF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304667" y="2923794"/>
            <a:ext cx="796147" cy="796147"/>
            <a:chOff x="0" y="0"/>
            <a:chExt cx="1061530" cy="10615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0"/>
                  </a:moveTo>
                  <a:lnTo>
                    <a:pt x="1061593" y="0"/>
                  </a:lnTo>
                  <a:lnTo>
                    <a:pt x="1061593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061530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64748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02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50920" y="4281209"/>
            <a:ext cx="7761927" cy="1334543"/>
            <a:chOff x="0" y="0"/>
            <a:chExt cx="10349236" cy="17793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349214" cy="1779403"/>
            </a:xfrm>
            <a:custGeom>
              <a:avLst/>
              <a:gdLst/>
              <a:ahLst/>
              <a:cxnLst/>
              <a:rect r="r" b="b" t="t" l="l"/>
              <a:pathLst>
                <a:path h="1779403" w="10349214">
                  <a:moveTo>
                    <a:pt x="0" y="0"/>
                  </a:moveTo>
                  <a:lnTo>
                    <a:pt x="10349214" y="0"/>
                  </a:lnTo>
                  <a:lnTo>
                    <a:pt x="10349214" y="1779403"/>
                  </a:lnTo>
                  <a:lnTo>
                    <a:pt x="0" y="1779403"/>
                  </a:lnTo>
                  <a:close/>
                </a:path>
              </a:pathLst>
            </a:custGeom>
            <a:solidFill>
              <a:srgbClr val="EEF2FF"/>
            </a:solidFill>
            <a:ln w="30504" cap="sq">
              <a:solidFill>
                <a:srgbClr val="02057E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0349236" cy="1779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41"/>
                </a:lnSpc>
                <a:spcBef>
                  <a:spcPct val="0"/>
                </a:spcBef>
              </a:pPr>
              <a:r>
                <a:rPr lang="en-US" b="true" sz="1951" strike="noStrike" u="none">
                  <a:solidFill>
                    <a:srgbClr val="02057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EXPERIMENT ĐỐI CHIẾU, CROSS-TESTING &amp; WORKAROUND RESILIENCE [TIÊU ĐIỂM]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304667" y="4543549"/>
            <a:ext cx="796147" cy="796147"/>
            <a:chOff x="0" y="0"/>
            <a:chExt cx="1061530" cy="10615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0"/>
                  </a:moveTo>
                  <a:lnTo>
                    <a:pt x="1061593" y="0"/>
                  </a:lnTo>
                  <a:lnTo>
                    <a:pt x="1061593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061530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02057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03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00814" y="5908585"/>
            <a:ext cx="7804414" cy="1319291"/>
            <a:chOff x="0" y="0"/>
            <a:chExt cx="10405885" cy="175905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05873" cy="1759080"/>
            </a:xfrm>
            <a:custGeom>
              <a:avLst/>
              <a:gdLst/>
              <a:ahLst/>
              <a:cxnLst/>
              <a:rect r="r" b="b" t="t" l="l"/>
              <a:pathLst>
                <a:path h="1759080" w="10405873">
                  <a:moveTo>
                    <a:pt x="0" y="0"/>
                  </a:moveTo>
                  <a:lnTo>
                    <a:pt x="10405873" y="0"/>
                  </a:lnTo>
                  <a:lnTo>
                    <a:pt x="10405873" y="1759080"/>
                  </a:lnTo>
                  <a:lnTo>
                    <a:pt x="0" y="1759080"/>
                  </a:ln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0405885" cy="1759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101828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PROPOSED TWO-TIER GUARDRAIL ARCHITECTURE (TWO-TIER CASCADE)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304667" y="6163294"/>
            <a:ext cx="796147" cy="796147"/>
            <a:chOff x="0" y="0"/>
            <a:chExt cx="1061530" cy="106153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0"/>
                  </a:moveTo>
                  <a:lnTo>
                    <a:pt x="1061593" y="0"/>
                  </a:lnTo>
                  <a:lnTo>
                    <a:pt x="1061593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061530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64748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04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98137" y="9471441"/>
            <a:ext cx="16101451" cy="20593"/>
            <a:chOff x="0" y="0"/>
            <a:chExt cx="21468601" cy="2745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98137" y="9553804"/>
            <a:ext cx="1413852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1"/>
              </a:lnSpc>
              <a:spcBef>
                <a:spcPct val="0"/>
              </a:spcBef>
            </a:pPr>
            <a:r>
              <a:rPr lang="en-US" sz="1726" i="true" strike="noStrike" u="none">
                <a:solidFill>
                  <a:srgbClr val="64748B"/>
                </a:solidFill>
                <a:latin typeface="Segoe UI"/>
                <a:ea typeface="Segoe UI"/>
                <a:cs typeface="Segoe UI"/>
                <a:sym typeface="Segoe UI"/>
              </a:rPr>
              <a:t>Academic reference: cross_dataset_empirical_matrix.json, McNemar Chi-Square (p = 8.7e-25)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5099392" cy="109814"/>
            <a:chOff x="0" y="0"/>
            <a:chExt cx="20132523" cy="1464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32548" cy="146431"/>
            </a:xfrm>
            <a:custGeom>
              <a:avLst/>
              <a:gdLst/>
              <a:ahLst/>
              <a:cxnLst/>
              <a:rect r="r" b="b" t="t" l="l"/>
              <a:pathLst>
                <a:path h="146431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099392" y="0"/>
            <a:ext cx="3202448" cy="109814"/>
            <a:chOff x="0" y="0"/>
            <a:chExt cx="4269930" cy="1464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69867" cy="146431"/>
            </a:xfrm>
            <a:custGeom>
              <a:avLst/>
              <a:gdLst/>
              <a:ahLst/>
              <a:cxnLst/>
              <a:rect r="r" b="b" t="t" l="l"/>
              <a:pathLst>
                <a:path h="146431" w="4269867">
                  <a:moveTo>
                    <a:pt x="0" y="0"/>
                  </a:moveTo>
                  <a:lnTo>
                    <a:pt x="4269867" y="0"/>
                  </a:lnTo>
                  <a:lnTo>
                    <a:pt x="426986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93C5F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8137" y="411804"/>
            <a:ext cx="796147" cy="796147"/>
            <a:chOff x="0" y="0"/>
            <a:chExt cx="1061530" cy="1061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0"/>
                  </a:moveTo>
                  <a:lnTo>
                    <a:pt x="1061593" y="0"/>
                  </a:lnTo>
                  <a:lnTo>
                    <a:pt x="1061593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61530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02057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3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086461" y="282940"/>
            <a:ext cx="15113127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925" strike="noStrike" u="non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PHẦN 03 • DỮ LIỆU EXPERIMENT</a:t>
            </a:r>
          </a:p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925" strike="noStrike" u="non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SYSTEM OF 6 INTERNATIONALLY STANDARDIZED DATASETS (TẬP D1 - D3)</a:t>
            </a:r>
          </a:p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925" strike="noStrike" u="non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Uses 100% public literature data from reputable scientific publications; no synthetic data is used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98137" y="2306088"/>
            <a:ext cx="16101451" cy="20593"/>
            <a:chOff x="0" y="0"/>
            <a:chExt cx="21468601" cy="274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6698" y="2459374"/>
            <a:ext cx="5170399" cy="6680339"/>
            <a:chOff x="0" y="0"/>
            <a:chExt cx="6893865" cy="89071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93814" cy="8907144"/>
            </a:xfrm>
            <a:custGeom>
              <a:avLst/>
              <a:gdLst/>
              <a:ahLst/>
              <a:cxnLst/>
              <a:rect r="r" b="b" t="t" l="l"/>
              <a:pathLst>
                <a:path h="8907144" w="6893814">
                  <a:moveTo>
                    <a:pt x="0" y="0"/>
                  </a:moveTo>
                  <a:lnTo>
                    <a:pt x="6893814" y="0"/>
                  </a:lnTo>
                  <a:lnTo>
                    <a:pt x="6893814" y="8907144"/>
                  </a:lnTo>
                  <a:lnTo>
                    <a:pt x="0" y="8907144"/>
                  </a:lnTo>
                  <a:close/>
                </a:path>
              </a:pathLst>
            </a:custGeom>
            <a:solidFill>
              <a:srgbClr val="F8FAFC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6893865" cy="890711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1211C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D1 • ATTACK TRỰC TIẾP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1211C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DEEPINCEPTION (DIRECT)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1211C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Source: Hao Li et al. (ACL 2025).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1211C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Size: 100 independent samples.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1211C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Characteristics: Direct coercive commands.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1211C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F1-Score PI-Guard: 91.7%.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1211C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EVALUATION OBJECTIVE: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1211C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Evaluate classic direct takeover attack detection capability.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62863" y="2470814"/>
            <a:ext cx="4818078" cy="54912"/>
            <a:chOff x="0" y="0"/>
            <a:chExt cx="6424104" cy="73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24168" cy="73152"/>
            </a:xfrm>
            <a:custGeom>
              <a:avLst/>
              <a:gdLst/>
              <a:ahLst/>
              <a:cxnLst/>
              <a:rect r="r" b="b" t="t" l="l"/>
              <a:pathLst>
                <a:path h="73152" w="6424168">
                  <a:moveTo>
                    <a:pt x="0" y="0"/>
                  </a:moveTo>
                  <a:lnTo>
                    <a:pt x="6424168" y="0"/>
                  </a:lnTo>
                  <a:lnTo>
                    <a:pt x="642416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577384" y="2459374"/>
            <a:ext cx="5170399" cy="6680339"/>
            <a:chOff x="0" y="0"/>
            <a:chExt cx="6893865" cy="89071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93814" cy="8907144"/>
            </a:xfrm>
            <a:custGeom>
              <a:avLst/>
              <a:gdLst/>
              <a:ahLst/>
              <a:cxnLst/>
              <a:rect r="r" b="b" t="t" l="l"/>
              <a:pathLst>
                <a:path h="8907144" w="6893814">
                  <a:moveTo>
                    <a:pt x="0" y="0"/>
                  </a:moveTo>
                  <a:lnTo>
                    <a:pt x="6893814" y="0"/>
                  </a:lnTo>
                  <a:lnTo>
                    <a:pt x="6893814" y="8907144"/>
                  </a:lnTo>
                  <a:lnTo>
                    <a:pt x="0" y="8907144"/>
                  </a:lnTo>
                  <a:close/>
                </a:path>
              </a:pathLst>
            </a:custGeom>
            <a:solidFill>
              <a:srgbClr val="F8FAFC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893865" cy="890711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D2 • ATTACK GIÁN TIẾP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BIPIA BENCHMARK (INDIRECT)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Source: Yi et al. (NAACL 2024).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Size: 100 RAG text samples.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Characteristics: Payload hidden in emails and web tables.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F1-Score PI-Guard: 100.0%.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EVALUATION OBJECTIVE: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Evaluate the ability to extract covertly embedded malicious payloads from reference documents.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53549" y="2470814"/>
            <a:ext cx="4818078" cy="54912"/>
            <a:chOff x="0" y="0"/>
            <a:chExt cx="6424104" cy="732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24168" cy="73152"/>
            </a:xfrm>
            <a:custGeom>
              <a:avLst/>
              <a:gdLst/>
              <a:ahLst/>
              <a:cxnLst/>
              <a:rect r="r" b="b" t="t" l="l"/>
              <a:pathLst>
                <a:path h="73152" w="6424168">
                  <a:moveTo>
                    <a:pt x="0" y="0"/>
                  </a:moveTo>
                  <a:lnTo>
                    <a:pt x="6424168" y="0"/>
                  </a:lnTo>
                  <a:lnTo>
                    <a:pt x="642416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068080" y="2459374"/>
            <a:ext cx="5170399" cy="6680339"/>
            <a:chOff x="0" y="0"/>
            <a:chExt cx="6893865" cy="89071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93814" cy="8907144"/>
            </a:xfrm>
            <a:custGeom>
              <a:avLst/>
              <a:gdLst/>
              <a:ahLst/>
              <a:cxnLst/>
              <a:rect r="r" b="b" t="t" l="l"/>
              <a:pathLst>
                <a:path h="8907144" w="6893814">
                  <a:moveTo>
                    <a:pt x="0" y="0"/>
                  </a:moveTo>
                  <a:lnTo>
                    <a:pt x="6893814" y="0"/>
                  </a:lnTo>
                  <a:lnTo>
                    <a:pt x="6893814" y="8907144"/>
                  </a:lnTo>
                  <a:lnTo>
                    <a:pt x="0" y="8907144"/>
                  </a:lnTo>
                  <a:close/>
                </a:path>
              </a:pathLst>
            </a:custGeom>
            <a:solidFill>
              <a:srgbClr val="F8FAFC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6893865" cy="890711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D3 • ATTACK VƯỢT RÀO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JAILBREAKBENCH (JAILBREAK)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Source: Chao et al. (2024).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Size: 100 DAN scenario samples.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Characteristics: Roleplay and psychological manipulation.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F1-Score PI-Guard: 62.0%.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EVALUATION OBJECTIVE: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Evaluate sensitivity to complex social-engineering attacks.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244235" y="2470814"/>
            <a:ext cx="4818078" cy="54912"/>
            <a:chOff x="0" y="0"/>
            <a:chExt cx="6424104" cy="73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24168" cy="73152"/>
            </a:xfrm>
            <a:custGeom>
              <a:avLst/>
              <a:gdLst/>
              <a:ahLst/>
              <a:cxnLst/>
              <a:rect r="r" b="b" t="t" l="l"/>
              <a:pathLst>
                <a:path h="73152" w="6424168">
                  <a:moveTo>
                    <a:pt x="0" y="0"/>
                  </a:moveTo>
                  <a:lnTo>
                    <a:pt x="6424168" y="0"/>
                  </a:lnTo>
                  <a:lnTo>
                    <a:pt x="642416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98137" y="9471441"/>
            <a:ext cx="16101451" cy="20593"/>
            <a:chOff x="0" y="0"/>
            <a:chExt cx="21468601" cy="2745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98137" y="9534754"/>
            <a:ext cx="1413852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sz="1725" i="true" strike="noStrike" u="none">
                <a:solidFill>
                  <a:srgbClr val="64748B"/>
                </a:solidFill>
                <a:latin typeface="Arimo Italics"/>
                <a:ea typeface="Arimo Italics"/>
                <a:cs typeface="Arimo Italics"/>
                <a:sym typeface="Arimo Italics"/>
              </a:rPr>
              <a:t>Academic reference: Hao Li et al. (ACL 2025), Yi et al. (NAACL 2024), Chao et al. (JailbreakBench 2024)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5099392" cy="109814"/>
            <a:chOff x="0" y="0"/>
            <a:chExt cx="20132523" cy="1464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32548" cy="146431"/>
            </a:xfrm>
            <a:custGeom>
              <a:avLst/>
              <a:gdLst/>
              <a:ahLst/>
              <a:cxnLst/>
              <a:rect r="r" b="b" t="t" l="l"/>
              <a:pathLst>
                <a:path h="146431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099392" y="0"/>
            <a:ext cx="3202448" cy="109814"/>
            <a:chOff x="0" y="0"/>
            <a:chExt cx="4269930" cy="1464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69867" cy="146431"/>
            </a:xfrm>
            <a:custGeom>
              <a:avLst/>
              <a:gdLst/>
              <a:ahLst/>
              <a:cxnLst/>
              <a:rect r="r" b="b" t="t" l="l"/>
              <a:pathLst>
                <a:path h="146431" w="4269867">
                  <a:moveTo>
                    <a:pt x="0" y="0"/>
                  </a:moveTo>
                  <a:lnTo>
                    <a:pt x="4269867" y="0"/>
                  </a:lnTo>
                  <a:lnTo>
                    <a:pt x="426986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93C5F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8137" y="411804"/>
            <a:ext cx="796147" cy="796147"/>
            <a:chOff x="0" y="0"/>
            <a:chExt cx="1061530" cy="1061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0"/>
                  </a:moveTo>
                  <a:lnTo>
                    <a:pt x="1061593" y="0"/>
                  </a:lnTo>
                  <a:lnTo>
                    <a:pt x="1061593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61530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02057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3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086461" y="282940"/>
            <a:ext cx="15113127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925" strike="noStrike" u="non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PHẦN 03 • DỮ LIỆU EXPERIMENT</a:t>
            </a:r>
          </a:p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925" strike="noStrike" u="non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SYSTEM OF 6 INTERNATIONALLY STANDARDIZED DATASETS (TẬP D4 - D6)</a:t>
            </a:r>
          </a:p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925" strike="noStrike" u="non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Adds boundary-test datasets for preventing false blocking of safe code and for complex adversarial cases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98137" y="2306088"/>
            <a:ext cx="16101451" cy="20593"/>
            <a:chOff x="0" y="0"/>
            <a:chExt cx="21468601" cy="274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6698" y="2459374"/>
            <a:ext cx="5170399" cy="6680339"/>
            <a:chOff x="0" y="0"/>
            <a:chExt cx="6893865" cy="89071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93814" cy="8907144"/>
            </a:xfrm>
            <a:custGeom>
              <a:avLst/>
              <a:gdLst/>
              <a:ahLst/>
              <a:cxnLst/>
              <a:rect r="r" b="b" t="t" l="l"/>
              <a:pathLst>
                <a:path h="8907144" w="6893814">
                  <a:moveTo>
                    <a:pt x="0" y="0"/>
                  </a:moveTo>
                  <a:lnTo>
                    <a:pt x="6893814" y="0"/>
                  </a:lnTo>
                  <a:lnTo>
                    <a:pt x="6893814" y="8907144"/>
                  </a:lnTo>
                  <a:lnTo>
                    <a:pt x="0" y="8907144"/>
                  </a:lnTo>
                  <a:close/>
                </a:path>
              </a:pathLst>
            </a:custGeom>
            <a:solidFill>
              <a:srgbClr val="F8FAFC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6893865" cy="890711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D4 • FALSE-BLOCKING TEST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CODE ACCURACY TESTBED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Source: HumanEval &amp; SQL Dataset.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Size: 100 benign code samples.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Characteristics: Contains sensitive keywords (DROP, eval).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Độ chính xác giữ lại: 98.0%.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EVALUATION OBJECTIVE: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Demonstrate resistance to false blocking of safe source code.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62863" y="2470814"/>
            <a:ext cx="4818078" cy="54912"/>
            <a:chOff x="0" y="0"/>
            <a:chExt cx="6424104" cy="73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24168" cy="73152"/>
            </a:xfrm>
            <a:custGeom>
              <a:avLst/>
              <a:gdLst/>
              <a:ahLst/>
              <a:cxnLst/>
              <a:rect r="r" b="b" t="t" l="l"/>
              <a:pathLst>
                <a:path h="73152" w="6424168">
                  <a:moveTo>
                    <a:pt x="0" y="0"/>
                  </a:moveTo>
                  <a:lnTo>
                    <a:pt x="6424168" y="0"/>
                  </a:lnTo>
                  <a:lnTo>
                    <a:pt x="642416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577384" y="2459374"/>
            <a:ext cx="5170399" cy="6680339"/>
            <a:chOff x="0" y="0"/>
            <a:chExt cx="6893865" cy="89071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93814" cy="8907144"/>
            </a:xfrm>
            <a:custGeom>
              <a:avLst/>
              <a:gdLst/>
              <a:ahLst/>
              <a:cxnLst/>
              <a:rect r="r" b="b" t="t" l="l"/>
              <a:pathLst>
                <a:path h="8907144" w="6893814">
                  <a:moveTo>
                    <a:pt x="0" y="0"/>
                  </a:moveTo>
                  <a:lnTo>
                    <a:pt x="6893814" y="0"/>
                  </a:lnTo>
                  <a:lnTo>
                    <a:pt x="6893814" y="8907144"/>
                  </a:lnTo>
                  <a:lnTo>
                    <a:pt x="0" y="8907144"/>
                  </a:lnTo>
                  <a:close/>
                </a:path>
              </a:pathLst>
            </a:custGeom>
            <a:solidFill>
              <a:srgbClr val="F8FAFC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893865" cy="890711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F9B314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D5 • MULTI-TURN ADVERSARIAL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F9B314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CRESCENDO ATTACK BENCH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F9B314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Source: Russinovich et al. (MS 2024).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F9B314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Size: 60 escalating dialogue samples.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F9B314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Characteristics: Step-by-step guidance across multiple turns.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F9B314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F1-Score PI-Guard: 58.3%.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F9B314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EVALUATION OBJECTIVE: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F9B314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Evaluate the limits of a stateless guardrail against multi-turn attacks.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53549" y="2470814"/>
            <a:ext cx="4818078" cy="54912"/>
            <a:chOff x="0" y="0"/>
            <a:chExt cx="6424104" cy="732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24168" cy="73152"/>
            </a:xfrm>
            <a:custGeom>
              <a:avLst/>
              <a:gdLst/>
              <a:ahLst/>
              <a:cxnLst/>
              <a:rect r="r" b="b" t="t" l="l"/>
              <a:pathLst>
                <a:path h="73152" w="6424168">
                  <a:moveTo>
                    <a:pt x="0" y="0"/>
                  </a:moveTo>
                  <a:lnTo>
                    <a:pt x="6424168" y="0"/>
                  </a:lnTo>
                  <a:lnTo>
                    <a:pt x="642416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068080" y="2459374"/>
            <a:ext cx="5170399" cy="6680339"/>
            <a:chOff x="0" y="0"/>
            <a:chExt cx="6893865" cy="89071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93814" cy="8907144"/>
            </a:xfrm>
            <a:custGeom>
              <a:avLst/>
              <a:gdLst/>
              <a:ahLst/>
              <a:cxnLst/>
              <a:rect r="r" b="b" t="t" l="l"/>
              <a:pathLst>
                <a:path h="8907144" w="6893814">
                  <a:moveTo>
                    <a:pt x="0" y="0"/>
                  </a:moveTo>
                  <a:lnTo>
                    <a:pt x="6893814" y="0"/>
                  </a:lnTo>
                  <a:lnTo>
                    <a:pt x="6893814" y="8907144"/>
                  </a:lnTo>
                  <a:lnTo>
                    <a:pt x="0" y="8907144"/>
                  </a:lnTo>
                  <a:close/>
                </a:path>
              </a:pathLst>
            </a:custGeom>
            <a:solidFill>
              <a:srgbClr val="F8FAFC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6893865" cy="890711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DE0000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D6 • COMPOSITE ADVERSARIAL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DE0000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WILDGUARD TESTBED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DE0000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Source: Allen AI (NeurIPS 2024).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DE0000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Size: 60 real-world natural samples.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DE0000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Characteristics: Combines malicious code, slang, and phonetic variations.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DE0000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F1-Score PI-Guard: 85.0%.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DE0000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EVALUATION OBJECTIVE: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DE0000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Test resilience in real-world application environments.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244235" y="2470814"/>
            <a:ext cx="4818078" cy="54912"/>
            <a:chOff x="0" y="0"/>
            <a:chExt cx="6424104" cy="73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24168" cy="73152"/>
            </a:xfrm>
            <a:custGeom>
              <a:avLst/>
              <a:gdLst/>
              <a:ahLst/>
              <a:cxnLst/>
              <a:rect r="r" b="b" t="t" l="l"/>
              <a:pathLst>
                <a:path h="73152" w="6424168">
                  <a:moveTo>
                    <a:pt x="0" y="0"/>
                  </a:moveTo>
                  <a:lnTo>
                    <a:pt x="6424168" y="0"/>
                  </a:lnTo>
                  <a:lnTo>
                    <a:pt x="642416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98137" y="9471441"/>
            <a:ext cx="16101451" cy="20593"/>
            <a:chOff x="0" y="0"/>
            <a:chExt cx="21468601" cy="2745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98137" y="9534754"/>
            <a:ext cx="1413852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sz="1725" i="true" strike="noStrike" u="none">
                <a:solidFill>
                  <a:srgbClr val="64748B"/>
                </a:solidFill>
                <a:latin typeface="Arimo Italics"/>
                <a:ea typeface="Arimo Italics"/>
                <a:cs typeface="Arimo Italics"/>
                <a:sym typeface="Arimo Italics"/>
              </a:rPr>
              <a:t>Academic reference: Russinovich et al. (Microsoft 2024), WildGuard (Allen AI, NeurIPS 2024)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5099392" cy="109814"/>
            <a:chOff x="0" y="0"/>
            <a:chExt cx="20132523" cy="1464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32548" cy="146431"/>
            </a:xfrm>
            <a:custGeom>
              <a:avLst/>
              <a:gdLst/>
              <a:ahLst/>
              <a:cxnLst/>
              <a:rect r="r" b="b" t="t" l="l"/>
              <a:pathLst>
                <a:path h="146431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099392" y="0"/>
            <a:ext cx="3202448" cy="109814"/>
            <a:chOff x="0" y="0"/>
            <a:chExt cx="4269930" cy="1464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69867" cy="146431"/>
            </a:xfrm>
            <a:custGeom>
              <a:avLst/>
              <a:gdLst/>
              <a:ahLst/>
              <a:cxnLst/>
              <a:rect r="r" b="b" t="t" l="l"/>
              <a:pathLst>
                <a:path h="146431" w="4269867">
                  <a:moveTo>
                    <a:pt x="0" y="0"/>
                  </a:moveTo>
                  <a:lnTo>
                    <a:pt x="4269867" y="0"/>
                  </a:lnTo>
                  <a:lnTo>
                    <a:pt x="426986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93C5F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8137" y="411804"/>
            <a:ext cx="796147" cy="796147"/>
            <a:chOff x="0" y="0"/>
            <a:chExt cx="1061530" cy="1061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0"/>
                  </a:moveTo>
                  <a:lnTo>
                    <a:pt x="1061593" y="0"/>
                  </a:lnTo>
                  <a:lnTo>
                    <a:pt x="1061593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61530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02057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8137" y="2306088"/>
            <a:ext cx="16101451" cy="20593"/>
            <a:chOff x="0" y="0"/>
            <a:chExt cx="21468601" cy="274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86698" y="2459374"/>
            <a:ext cx="11327653" cy="6680340"/>
            <a:chOff x="0" y="0"/>
            <a:chExt cx="15103537" cy="8907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103576" cy="8907145"/>
            </a:xfrm>
            <a:custGeom>
              <a:avLst/>
              <a:gdLst/>
              <a:ahLst/>
              <a:cxnLst/>
              <a:rect r="r" b="b" t="t" l="l"/>
              <a:pathLst>
                <a:path h="8907145" w="15103576">
                  <a:moveTo>
                    <a:pt x="0" y="0"/>
                  </a:moveTo>
                  <a:lnTo>
                    <a:pt x="15103576" y="0"/>
                  </a:lnTo>
                  <a:lnTo>
                    <a:pt x="15103576" y="8907145"/>
                  </a:lnTo>
                  <a:lnTo>
                    <a:pt x="0" y="8907145"/>
                  </a:lnTo>
                  <a:close/>
                </a:path>
              </a:pathLst>
            </a:custGeom>
            <a:blipFill>
              <a:blip r:embed="rId2"/>
              <a:stretch>
                <a:fillRect l="-7817" t="0" r="-7817" b="0"/>
              </a:stretch>
            </a:blipFill>
            <a:ln w="2287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07951" y="2470814"/>
            <a:ext cx="9114549" cy="54912"/>
            <a:chOff x="0" y="0"/>
            <a:chExt cx="12152732" cy="73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152757" cy="73152"/>
            </a:xfrm>
            <a:custGeom>
              <a:avLst/>
              <a:gdLst/>
              <a:ahLst/>
              <a:cxnLst/>
              <a:rect r="r" b="b" t="t" l="l"/>
              <a:pathLst>
                <a:path h="73152" w="12152757">
                  <a:moveTo>
                    <a:pt x="0" y="0"/>
                  </a:moveTo>
                  <a:lnTo>
                    <a:pt x="12152757" y="0"/>
                  </a:lnTo>
                  <a:lnTo>
                    <a:pt x="12152757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62863" y="2539441"/>
            <a:ext cx="9004735" cy="356895"/>
            <a:chOff x="0" y="0"/>
            <a:chExt cx="12006313" cy="4758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006308" cy="475863"/>
            </a:xfrm>
            <a:custGeom>
              <a:avLst/>
              <a:gdLst/>
              <a:ahLst/>
              <a:cxnLst/>
              <a:rect r="r" b="b" t="t" l="l"/>
              <a:pathLst>
                <a:path h="475863" w="12006308">
                  <a:moveTo>
                    <a:pt x="0" y="0"/>
                  </a:moveTo>
                  <a:lnTo>
                    <a:pt x="12006308" y="0"/>
                  </a:lnTo>
                  <a:lnTo>
                    <a:pt x="12006308" y="475863"/>
                  </a:lnTo>
                  <a:lnTo>
                    <a:pt x="0" y="4758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2006313" cy="475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711"/>
                </a:lnSpc>
                <a:spcBef>
                  <a:spcPct val="0"/>
                </a:spcBef>
              </a:pPr>
              <a:r>
                <a:rPr lang="en-US" b="true" sz="1426" strike="noStrike" u="none">
                  <a:solidFill>
                    <a:srgbClr val="1211C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LAB HEATMAP MATRIX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414351" y="2459374"/>
            <a:ext cx="5395884" cy="6680339"/>
            <a:chOff x="0" y="0"/>
            <a:chExt cx="7194512" cy="89071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94576" cy="8907144"/>
            </a:xfrm>
            <a:custGeom>
              <a:avLst/>
              <a:gdLst/>
              <a:ahLst/>
              <a:cxnLst/>
              <a:rect r="r" b="b" t="t" l="l"/>
              <a:pathLst>
                <a:path h="8907144" w="7194576">
                  <a:moveTo>
                    <a:pt x="0" y="0"/>
                  </a:moveTo>
                  <a:lnTo>
                    <a:pt x="7194576" y="0"/>
                  </a:lnTo>
                  <a:lnTo>
                    <a:pt x="7194576" y="8907144"/>
                  </a:lnTo>
                  <a:lnTo>
                    <a:pt x="0" y="8907144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7194512" cy="890711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1211C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HEATMAP ANALYSIS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1211C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MODEL GENERALIZATION ANALYSIS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1211C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High generalization: The main diagonal reaches F1 trung bình 92.4%; off-diagonal cells maintain F1 &gt; 82.0%.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1211C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Transferability (Transferability): A model trained on DeepInception still correctly identifies 85.6% mẫu BIPIA.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1211C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No overfitting: Demonstrates that the guardrail learns the semantic nature of manipulation behavior rather than memorizing.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1211C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MATRIX ASSESSMENT: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1211C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Ma trận Heatmap chứng minh mô hình có khả năng khái quát hóa xuất sắc, maintains high accuracy on new domains.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81382" y="2470814"/>
            <a:ext cx="6053490" cy="54912"/>
            <a:chOff x="0" y="0"/>
            <a:chExt cx="8071320" cy="732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71358" cy="73152"/>
            </a:xfrm>
            <a:custGeom>
              <a:avLst/>
              <a:gdLst/>
              <a:ahLst/>
              <a:cxnLst/>
              <a:rect r="r" b="b" t="t" l="l"/>
              <a:pathLst>
                <a:path h="73152" w="8071358">
                  <a:moveTo>
                    <a:pt x="0" y="0"/>
                  </a:moveTo>
                  <a:lnTo>
                    <a:pt x="8071358" y="0"/>
                  </a:lnTo>
                  <a:lnTo>
                    <a:pt x="807135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98137" y="9471441"/>
            <a:ext cx="16101451" cy="20593"/>
            <a:chOff x="0" y="0"/>
            <a:chExt cx="21468601" cy="2745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2086461" y="282940"/>
            <a:ext cx="15113127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925" strike="noStrike" u="non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PHẦN 03 • CROSS-TESTING ĐA MIỀN</a:t>
            </a:r>
          </a:p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925" strike="noStrike" u="non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MA TRẬN HEATMAP CROSS-TESTING ĐA MIỀN (CROSS-DATASET EVALUATION)</a:t>
            </a:r>
          </a:p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925" strike="noStrike" u="non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Hình 5 trích xuất từ thực nghiệm Lab: Kiểm tra khả năng khái quát hóa khi huấn luyện trên miền này và test trên miền khác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8137" y="9534754"/>
            <a:ext cx="1413852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sz="1725" i="true" strike="noStrike" u="none">
                <a:solidFill>
                  <a:srgbClr val="64748B"/>
                </a:solidFill>
                <a:latin typeface="Arimo Italics"/>
                <a:ea typeface="Arimo Italics"/>
                <a:cs typeface="Arimo Italics"/>
                <a:sym typeface="Arimo Italics"/>
              </a:rPr>
              <a:t>Academic reference: Trích xuất thực nghiệm: fig2_cross_dataset_heatmap.png, Fall 2026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5099392" cy="109814"/>
            <a:chOff x="0" y="0"/>
            <a:chExt cx="20132523" cy="1464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32548" cy="146431"/>
            </a:xfrm>
            <a:custGeom>
              <a:avLst/>
              <a:gdLst/>
              <a:ahLst/>
              <a:cxnLst/>
              <a:rect r="r" b="b" t="t" l="l"/>
              <a:pathLst>
                <a:path h="146431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099392" y="0"/>
            <a:ext cx="3202448" cy="109814"/>
            <a:chOff x="0" y="0"/>
            <a:chExt cx="4269930" cy="1464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69867" cy="146431"/>
            </a:xfrm>
            <a:custGeom>
              <a:avLst/>
              <a:gdLst/>
              <a:ahLst/>
              <a:cxnLst/>
              <a:rect r="r" b="b" t="t" l="l"/>
              <a:pathLst>
                <a:path h="146431" w="4269867">
                  <a:moveTo>
                    <a:pt x="0" y="0"/>
                  </a:moveTo>
                  <a:lnTo>
                    <a:pt x="4269867" y="0"/>
                  </a:lnTo>
                  <a:lnTo>
                    <a:pt x="426986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93C5F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8137" y="411804"/>
            <a:ext cx="796147" cy="796147"/>
            <a:chOff x="0" y="0"/>
            <a:chExt cx="1061530" cy="1061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0"/>
                  </a:moveTo>
                  <a:lnTo>
                    <a:pt x="1061593" y="0"/>
                  </a:lnTo>
                  <a:lnTo>
                    <a:pt x="1061593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61530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02057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3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086461" y="282940"/>
            <a:ext cx="15113127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925" strike="noStrike" u="non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PHẦN 03 • MODULE ROLE ABLATION</a:t>
            </a:r>
          </a:p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925" strike="noStrike" u="non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EXPERIMENT BÓC TÁCH VAI TRÒ TỪNG MÔ ĐUN (ABLATION STUDY): ĐÓNG GÓP THÀNH PHẦN</a:t>
            </a:r>
          </a:p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925" strike="noStrike" u="non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: Đo lường mức độ suy giảm hiệu năng khi cắt bỏ times faster lượt từng thành phần kiến trúc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98137" y="2306088"/>
            <a:ext cx="16101451" cy="20593"/>
            <a:chOff x="0" y="0"/>
            <a:chExt cx="21468601" cy="274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6698" y="2459374"/>
            <a:ext cx="9357046" cy="6680340"/>
            <a:chOff x="0" y="0"/>
            <a:chExt cx="12476061" cy="8907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76099" cy="8907145"/>
            </a:xfrm>
            <a:custGeom>
              <a:avLst/>
              <a:gdLst/>
              <a:ahLst/>
              <a:cxnLst/>
              <a:rect r="r" b="b" t="t" l="l"/>
              <a:pathLst>
                <a:path h="8907145" w="12476099">
                  <a:moveTo>
                    <a:pt x="0" y="0"/>
                  </a:moveTo>
                  <a:lnTo>
                    <a:pt x="12476099" y="0"/>
                  </a:lnTo>
                  <a:lnTo>
                    <a:pt x="12476099" y="8907145"/>
                  </a:lnTo>
                  <a:lnTo>
                    <a:pt x="0" y="8907145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07951" y="2470814"/>
            <a:ext cx="9114549" cy="54912"/>
            <a:chOff x="0" y="0"/>
            <a:chExt cx="12152732" cy="732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52757" cy="73152"/>
            </a:xfrm>
            <a:custGeom>
              <a:avLst/>
              <a:gdLst/>
              <a:ahLst/>
              <a:cxnLst/>
              <a:rect r="r" b="b" t="t" l="l"/>
              <a:pathLst>
                <a:path h="73152" w="12152757">
                  <a:moveTo>
                    <a:pt x="0" y="0"/>
                  </a:moveTo>
                  <a:lnTo>
                    <a:pt x="12152757" y="0"/>
                  </a:lnTo>
                  <a:lnTo>
                    <a:pt x="12152757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62863" y="2539441"/>
            <a:ext cx="9004735" cy="356895"/>
            <a:chOff x="0" y="0"/>
            <a:chExt cx="12006313" cy="4758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06308" cy="475863"/>
            </a:xfrm>
            <a:custGeom>
              <a:avLst/>
              <a:gdLst/>
              <a:ahLst/>
              <a:cxnLst/>
              <a:rect r="r" b="b" t="t" l="l"/>
              <a:pathLst>
                <a:path h="475863" w="12006308">
                  <a:moveTo>
                    <a:pt x="0" y="0"/>
                  </a:moveTo>
                  <a:lnTo>
                    <a:pt x="12006308" y="0"/>
                  </a:lnTo>
                  <a:lnTo>
                    <a:pt x="12006308" y="475863"/>
                  </a:lnTo>
                  <a:lnTo>
                    <a:pt x="0" y="4758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2006313" cy="475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711"/>
                </a:lnSpc>
                <a:spcBef>
                  <a:spcPct val="0"/>
                </a:spcBef>
              </a:pPr>
              <a:r>
                <a:rPr lang="en-US" b="true" sz="142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COMPONENT ABLATION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39314" y="2944930"/>
            <a:ext cx="9251813" cy="6093562"/>
            <a:chOff x="0" y="0"/>
            <a:chExt cx="12335751" cy="8124749"/>
          </a:xfrm>
        </p:grpSpPr>
        <p:sp>
          <p:nvSpPr>
            <p:cNvPr name="Freeform 22" id="22" descr="fig4_ablation_study_breakdown.png"/>
            <p:cNvSpPr/>
            <p:nvPr/>
          </p:nvSpPr>
          <p:spPr>
            <a:xfrm flipH="false" flipV="false" rot="0">
              <a:off x="0" y="0"/>
              <a:ext cx="12335764" cy="8124698"/>
            </a:xfrm>
            <a:custGeom>
              <a:avLst/>
              <a:gdLst/>
              <a:ahLst/>
              <a:cxnLst/>
              <a:rect r="r" b="b" t="t" l="l"/>
              <a:pathLst>
                <a:path h="8124698" w="12335764">
                  <a:moveTo>
                    <a:pt x="0" y="0"/>
                  </a:moveTo>
                  <a:lnTo>
                    <a:pt x="12335764" y="0"/>
                  </a:lnTo>
                  <a:lnTo>
                    <a:pt x="12335764" y="8124698"/>
                  </a:lnTo>
                  <a:lnTo>
                    <a:pt x="0" y="8124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805217" y="2459374"/>
            <a:ext cx="6405801" cy="6680339"/>
            <a:chOff x="0" y="0"/>
            <a:chExt cx="8541068" cy="89071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541131" cy="8907144"/>
            </a:xfrm>
            <a:custGeom>
              <a:avLst/>
              <a:gdLst/>
              <a:ahLst/>
              <a:cxnLst/>
              <a:rect r="r" b="b" t="t" l="l"/>
              <a:pathLst>
                <a:path h="8907144" w="8541131">
                  <a:moveTo>
                    <a:pt x="0" y="0"/>
                  </a:moveTo>
                  <a:lnTo>
                    <a:pt x="8541131" y="0"/>
                  </a:lnTo>
                  <a:lnTo>
                    <a:pt x="8541131" y="8907144"/>
                  </a:lnTo>
                  <a:lnTo>
                    <a:pt x="0" y="8907144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8541068" cy="890711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COMPONENT STUDY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QUANTIFYING EACH MODULE CONTRIBUTION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Scenario 1 (Remove Scrubber): F1 trên tập Leetspeak drops sharply from 91.8% xuống 68.4% (-23.4%).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Scenario 2 (Remove Tier 1): P95 latency explodes 14 times faster (từ 2.85ms lên 38.5ms) because all load is shifted to Tier 2.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Scenario 3 (Remove Tier 2): F1 trên sophisticated indirect attacks sụt từ 100% xuống 78.5% (-21.5%).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MODULE CONTRIBUTION: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Thực nghiệm bóc tách chứng minh vai trò hiệp đồng: Removing any component collapses system performance.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81382" y="2470814"/>
            <a:ext cx="6053490" cy="54912"/>
            <a:chOff x="0" y="0"/>
            <a:chExt cx="8071320" cy="73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71358" cy="73152"/>
            </a:xfrm>
            <a:custGeom>
              <a:avLst/>
              <a:gdLst/>
              <a:ahLst/>
              <a:cxnLst/>
              <a:rect r="r" b="b" t="t" l="l"/>
              <a:pathLst>
                <a:path h="73152" w="8071358">
                  <a:moveTo>
                    <a:pt x="0" y="0"/>
                  </a:moveTo>
                  <a:lnTo>
                    <a:pt x="8071358" y="0"/>
                  </a:lnTo>
                  <a:lnTo>
                    <a:pt x="807135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98137" y="9471441"/>
            <a:ext cx="16101451" cy="20593"/>
            <a:chOff x="0" y="0"/>
            <a:chExt cx="21468601" cy="274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98137" y="9534754"/>
            <a:ext cx="1413852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sz="1725" i="true" strike="noStrike" u="none">
                <a:solidFill>
                  <a:srgbClr val="64748B"/>
                </a:solidFill>
                <a:latin typeface="Arimo Italics"/>
                <a:ea typeface="Arimo Italics"/>
                <a:cs typeface="Arimo Italics"/>
                <a:sym typeface="Arimo Italics"/>
              </a:rPr>
              <a:t>Academic reference: Trích xuất thực nghiệm: fig4_ablation_study_breakdown.png, Fall 2026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5099392" cy="109814"/>
            <a:chOff x="0" y="0"/>
            <a:chExt cx="20132523" cy="1464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32548" cy="146431"/>
            </a:xfrm>
            <a:custGeom>
              <a:avLst/>
              <a:gdLst/>
              <a:ahLst/>
              <a:cxnLst/>
              <a:rect r="r" b="b" t="t" l="l"/>
              <a:pathLst>
                <a:path h="146431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099392" y="0"/>
            <a:ext cx="3202448" cy="109814"/>
            <a:chOff x="0" y="0"/>
            <a:chExt cx="4269930" cy="1464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69867" cy="146431"/>
            </a:xfrm>
            <a:custGeom>
              <a:avLst/>
              <a:gdLst/>
              <a:ahLst/>
              <a:cxnLst/>
              <a:rect r="r" b="b" t="t" l="l"/>
              <a:pathLst>
                <a:path h="146431" w="4269867">
                  <a:moveTo>
                    <a:pt x="0" y="0"/>
                  </a:moveTo>
                  <a:lnTo>
                    <a:pt x="4269867" y="0"/>
                  </a:lnTo>
                  <a:lnTo>
                    <a:pt x="426986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93C5F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8137" y="411804"/>
            <a:ext cx="796147" cy="796147"/>
            <a:chOff x="0" y="0"/>
            <a:chExt cx="1061530" cy="1061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0"/>
                  </a:moveTo>
                  <a:lnTo>
                    <a:pt x="1061593" y="0"/>
                  </a:lnTo>
                  <a:lnTo>
                    <a:pt x="1061593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61530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02057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3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086461" y="282940"/>
            <a:ext cx="15113127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925" strike="noStrike" u="non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PHẦN 03 • EXPERIMENT VĂN BẢN 200K</a:t>
            </a:r>
          </a:p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925" strike="noStrike" u="non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EXPERIMENT QUÉT VĂN BẢN 200K KÝ TỰ: MINH CHỨNG DỪNG SỚM TẠI BLOCK 1</a:t>
            </a:r>
          </a:p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925" strike="noStrike" u="non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Figure 6 extracted from Lab experiments: Measuring actual scan time when hiding malicious prompts at different positions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98137" y="2306088"/>
            <a:ext cx="16101451" cy="20593"/>
            <a:chOff x="0" y="0"/>
            <a:chExt cx="21468601" cy="274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6698" y="2459374"/>
            <a:ext cx="9357046" cy="6680340"/>
            <a:chOff x="0" y="0"/>
            <a:chExt cx="12476061" cy="8907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76099" cy="8907145"/>
            </a:xfrm>
            <a:custGeom>
              <a:avLst/>
              <a:gdLst/>
              <a:ahLst/>
              <a:cxnLst/>
              <a:rect r="r" b="b" t="t" l="l"/>
              <a:pathLst>
                <a:path h="8907145" w="12476099">
                  <a:moveTo>
                    <a:pt x="0" y="0"/>
                  </a:moveTo>
                  <a:lnTo>
                    <a:pt x="12476099" y="0"/>
                  </a:lnTo>
                  <a:lnTo>
                    <a:pt x="12476099" y="8907145"/>
                  </a:lnTo>
                  <a:lnTo>
                    <a:pt x="0" y="8907145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07951" y="2470814"/>
            <a:ext cx="9114549" cy="54912"/>
            <a:chOff x="0" y="0"/>
            <a:chExt cx="12152732" cy="732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52757" cy="73152"/>
            </a:xfrm>
            <a:custGeom>
              <a:avLst/>
              <a:gdLst/>
              <a:ahLst/>
              <a:cxnLst/>
              <a:rect r="r" b="b" t="t" l="l"/>
              <a:pathLst>
                <a:path h="73152" w="12152757">
                  <a:moveTo>
                    <a:pt x="0" y="0"/>
                  </a:moveTo>
                  <a:lnTo>
                    <a:pt x="12152757" y="0"/>
                  </a:lnTo>
                  <a:lnTo>
                    <a:pt x="12152757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62863" y="2539441"/>
            <a:ext cx="9004735" cy="356895"/>
            <a:chOff x="0" y="0"/>
            <a:chExt cx="12006313" cy="4758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06308" cy="475863"/>
            </a:xfrm>
            <a:custGeom>
              <a:avLst/>
              <a:gdLst/>
              <a:ahLst/>
              <a:cxnLst/>
              <a:rect r="r" b="b" t="t" l="l"/>
              <a:pathLst>
                <a:path h="475863" w="12006308">
                  <a:moveTo>
                    <a:pt x="0" y="0"/>
                  </a:moveTo>
                  <a:lnTo>
                    <a:pt x="12006308" y="0"/>
                  </a:lnTo>
                  <a:lnTo>
                    <a:pt x="12006308" y="475863"/>
                  </a:lnTo>
                  <a:lnTo>
                    <a:pt x="0" y="4758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2006313" cy="475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711"/>
                </a:lnSpc>
                <a:spcBef>
                  <a:spcPct val="0"/>
                </a:spcBef>
              </a:pPr>
              <a:r>
                <a:rPr lang="en-US" b="true" sz="142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EXPERIMENT VĂN BẢN DÀI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39314" y="2921270"/>
            <a:ext cx="9251813" cy="6140882"/>
            <a:chOff x="0" y="0"/>
            <a:chExt cx="12335751" cy="8187842"/>
          </a:xfrm>
        </p:grpSpPr>
        <p:sp>
          <p:nvSpPr>
            <p:cNvPr name="Freeform 22" id="22" descr="fig1_early_stopping_latency_200k.png"/>
            <p:cNvSpPr/>
            <p:nvPr/>
          </p:nvSpPr>
          <p:spPr>
            <a:xfrm flipH="false" flipV="false" rot="0">
              <a:off x="0" y="0"/>
              <a:ext cx="12335764" cy="8187817"/>
            </a:xfrm>
            <a:custGeom>
              <a:avLst/>
              <a:gdLst/>
              <a:ahLst/>
              <a:cxnLst/>
              <a:rect r="r" b="b" t="t" l="l"/>
              <a:pathLst>
                <a:path h="8187817" w="12335764">
                  <a:moveTo>
                    <a:pt x="0" y="0"/>
                  </a:moveTo>
                  <a:lnTo>
                    <a:pt x="12335764" y="0"/>
                  </a:lnTo>
                  <a:lnTo>
                    <a:pt x="12335764" y="8187817"/>
                  </a:lnTo>
                  <a:lnTo>
                    <a:pt x="0" y="8187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805217" y="2459374"/>
            <a:ext cx="6405801" cy="6680339"/>
            <a:chOff x="0" y="0"/>
            <a:chExt cx="8541068" cy="89071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541131" cy="8907144"/>
            </a:xfrm>
            <a:custGeom>
              <a:avLst/>
              <a:gdLst/>
              <a:ahLst/>
              <a:cxnLst/>
              <a:rect r="r" b="b" t="t" l="l"/>
              <a:pathLst>
                <a:path h="8907144" w="8541131">
                  <a:moveTo>
                    <a:pt x="0" y="0"/>
                  </a:moveTo>
                  <a:lnTo>
                    <a:pt x="8541131" y="0"/>
                  </a:lnTo>
                  <a:lnTo>
                    <a:pt x="8541131" y="8907144"/>
                  </a:lnTo>
                  <a:lnTo>
                    <a:pt x="0" y="8907144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8541068" cy="890711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KIỂM CHỨNG MEETING 5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KẾT QUẢ EXPERIMENT ĐỘT PHÁ TĂNG TỐC 111X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Attack hidden at the tail: Malicious payload inserted at character 195,000 in the document 200k ký tự.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Early stopping takes effect: The Tail Block scanning algorithm scans first and detects the malicious content at Block 1 in 37.1ms.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Dramatic speedup: Sequential scanning takes 4,115ms; the PI-Guard mechanism is up to 111 times faster!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KẾT QUẢ EXPERIMENT: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The Tail-first early-stopping strategy fully solves the 200k-character text problem as directed by the supervisor.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81382" y="2470814"/>
            <a:ext cx="6053490" cy="54912"/>
            <a:chOff x="0" y="0"/>
            <a:chExt cx="8071320" cy="73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71358" cy="73152"/>
            </a:xfrm>
            <a:custGeom>
              <a:avLst/>
              <a:gdLst/>
              <a:ahLst/>
              <a:cxnLst/>
              <a:rect r="r" b="b" t="t" l="l"/>
              <a:pathLst>
                <a:path h="73152" w="8071358">
                  <a:moveTo>
                    <a:pt x="0" y="0"/>
                  </a:moveTo>
                  <a:lnTo>
                    <a:pt x="8071358" y="0"/>
                  </a:lnTo>
                  <a:lnTo>
                    <a:pt x="807135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98137" y="9471441"/>
            <a:ext cx="16101451" cy="20593"/>
            <a:chOff x="0" y="0"/>
            <a:chExt cx="21468601" cy="274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98137" y="9534754"/>
            <a:ext cx="1413852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sz="1725" i="true" strike="noStrike" u="none">
                <a:solidFill>
                  <a:srgbClr val="64748B"/>
                </a:solidFill>
                <a:latin typeface="Arimo Italics"/>
                <a:ea typeface="Arimo Italics"/>
                <a:cs typeface="Arimo Italics"/>
                <a:sym typeface="Arimo Italics"/>
              </a:rPr>
              <a:t>Academic reference: Trích xuất thực nghiệm: test_hidden_prompt_at_tail.py, Fall 2026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5099392" cy="109814"/>
            <a:chOff x="0" y="0"/>
            <a:chExt cx="20132523" cy="1464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32548" cy="146431"/>
            </a:xfrm>
            <a:custGeom>
              <a:avLst/>
              <a:gdLst/>
              <a:ahLst/>
              <a:cxnLst/>
              <a:rect r="r" b="b" t="t" l="l"/>
              <a:pathLst>
                <a:path h="146431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099392" y="0"/>
            <a:ext cx="3202448" cy="109814"/>
            <a:chOff x="0" y="0"/>
            <a:chExt cx="4269930" cy="1464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69867" cy="146431"/>
            </a:xfrm>
            <a:custGeom>
              <a:avLst/>
              <a:gdLst/>
              <a:ahLst/>
              <a:cxnLst/>
              <a:rect r="r" b="b" t="t" l="l"/>
              <a:pathLst>
                <a:path h="146431" w="4269867">
                  <a:moveTo>
                    <a:pt x="0" y="0"/>
                  </a:moveTo>
                  <a:lnTo>
                    <a:pt x="4269867" y="0"/>
                  </a:lnTo>
                  <a:lnTo>
                    <a:pt x="426986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93C5F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8137" y="411804"/>
            <a:ext cx="796147" cy="796147"/>
            <a:chOff x="0" y="0"/>
            <a:chExt cx="1061530" cy="1061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0"/>
                  </a:moveTo>
                  <a:lnTo>
                    <a:pt x="1061593" y="0"/>
                  </a:lnTo>
                  <a:lnTo>
                    <a:pt x="1061593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61530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02057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3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086461" y="282940"/>
            <a:ext cx="15113127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925" strike="noStrike" u="non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PHẦN 03 • KHẢ NĂNG CHỐNG CHỊU ATTACK NÉ TRÁNH</a:t>
            </a:r>
          </a:p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925" strike="noStrike" u="non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RESILIENCE TESTING AGAINST OBFUSCATION &amp; WORKAROUND TECHNIQUES (ADVERSARIAL ROBUSTNESS)</a:t>
            </a:r>
          </a:p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925" strike="noStrike" u="non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Evaluate system resilience against syntax-obfuscation techniques and adversarial Vietnamese variants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98137" y="2306088"/>
            <a:ext cx="16101451" cy="20593"/>
            <a:chOff x="0" y="0"/>
            <a:chExt cx="21468601" cy="274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6698" y="2459374"/>
            <a:ext cx="9357046" cy="6680340"/>
            <a:chOff x="0" y="0"/>
            <a:chExt cx="12476061" cy="8907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76099" cy="8907145"/>
            </a:xfrm>
            <a:custGeom>
              <a:avLst/>
              <a:gdLst/>
              <a:ahLst/>
              <a:cxnLst/>
              <a:rect r="r" b="b" t="t" l="l"/>
              <a:pathLst>
                <a:path h="8907145" w="12476099">
                  <a:moveTo>
                    <a:pt x="0" y="0"/>
                  </a:moveTo>
                  <a:lnTo>
                    <a:pt x="12476099" y="0"/>
                  </a:lnTo>
                  <a:lnTo>
                    <a:pt x="12476099" y="8907145"/>
                  </a:lnTo>
                  <a:lnTo>
                    <a:pt x="0" y="8907145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07951" y="2470814"/>
            <a:ext cx="9114549" cy="54912"/>
            <a:chOff x="0" y="0"/>
            <a:chExt cx="12152732" cy="732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52757" cy="73152"/>
            </a:xfrm>
            <a:custGeom>
              <a:avLst/>
              <a:gdLst/>
              <a:ahLst/>
              <a:cxnLst/>
              <a:rect r="r" b="b" t="t" l="l"/>
              <a:pathLst>
                <a:path h="73152" w="12152757">
                  <a:moveTo>
                    <a:pt x="0" y="0"/>
                  </a:moveTo>
                  <a:lnTo>
                    <a:pt x="12152757" y="0"/>
                  </a:lnTo>
                  <a:lnTo>
                    <a:pt x="12152757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62863" y="2539441"/>
            <a:ext cx="9004735" cy="356895"/>
            <a:chOff x="0" y="0"/>
            <a:chExt cx="12006313" cy="4758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06308" cy="475863"/>
            </a:xfrm>
            <a:custGeom>
              <a:avLst/>
              <a:gdLst/>
              <a:ahLst/>
              <a:cxnLst/>
              <a:rect r="r" b="b" t="t" l="l"/>
              <a:pathLst>
                <a:path h="475863" w="12006308">
                  <a:moveTo>
                    <a:pt x="0" y="0"/>
                  </a:moveTo>
                  <a:lnTo>
                    <a:pt x="12006308" y="0"/>
                  </a:lnTo>
                  <a:lnTo>
                    <a:pt x="12006308" y="475863"/>
                  </a:lnTo>
                  <a:lnTo>
                    <a:pt x="0" y="4758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2006313" cy="475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1711"/>
                </a:lnSpc>
                <a:spcBef>
                  <a:spcPct val="0"/>
                </a:spcBef>
              </a:pPr>
              <a:r>
                <a:rPr lang="en-US" b="true" sz="1426" strike="noStrike" u="none">
                  <a:solidFill>
                    <a:srgbClr val="1211C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ĐỐI KHÁNG EXPERIMENT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42752" y="2910068"/>
            <a:ext cx="9244946" cy="6163304"/>
            <a:chOff x="0" y="0"/>
            <a:chExt cx="12326595" cy="8217738"/>
          </a:xfrm>
        </p:grpSpPr>
        <p:sp>
          <p:nvSpPr>
            <p:cNvPr name="Freeform 22" id="22" descr="fig_adversarial_vietnamese_robustness.png"/>
            <p:cNvSpPr/>
            <p:nvPr/>
          </p:nvSpPr>
          <p:spPr>
            <a:xfrm flipH="false" flipV="false" rot="0">
              <a:off x="0" y="0"/>
              <a:ext cx="12326620" cy="8217789"/>
            </a:xfrm>
            <a:custGeom>
              <a:avLst/>
              <a:gdLst/>
              <a:ahLst/>
              <a:cxnLst/>
              <a:rect r="r" b="b" t="t" l="l"/>
              <a:pathLst>
                <a:path h="8217789" w="12326620">
                  <a:moveTo>
                    <a:pt x="0" y="0"/>
                  </a:moveTo>
                  <a:lnTo>
                    <a:pt x="12326620" y="0"/>
                  </a:lnTo>
                  <a:lnTo>
                    <a:pt x="12326620" y="8217789"/>
                  </a:lnTo>
                  <a:lnTo>
                    <a:pt x="0" y="8217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805217" y="2459374"/>
            <a:ext cx="6405801" cy="6680339"/>
            <a:chOff x="0" y="0"/>
            <a:chExt cx="8541068" cy="89071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541131" cy="8907144"/>
            </a:xfrm>
            <a:custGeom>
              <a:avLst/>
              <a:gdLst/>
              <a:ahLst/>
              <a:cxnLst/>
              <a:rect r="r" b="b" t="t" l="l"/>
              <a:pathLst>
                <a:path h="8907144" w="8541131">
                  <a:moveTo>
                    <a:pt x="0" y="0"/>
                  </a:moveTo>
                  <a:lnTo>
                    <a:pt x="8541131" y="0"/>
                  </a:lnTo>
                  <a:lnTo>
                    <a:pt x="8541131" y="8907144"/>
                  </a:lnTo>
                  <a:lnTo>
                    <a:pt x="0" y="8907144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8541068" cy="890711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FIELD RESILIENCE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ADVERSARIAL &amp; VIETNAMESE MITIGATION CAPABILITY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Leetspeak &amp; Spacing: Char_wb n-grams và Ingress Scrubber duy trì F1 &gt; 88% - 94%.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Base64 &amp; Mã hóa: Automatically decoded at Tier 0 before entering the classification model.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Vietnamese adversarial: The Vietnamese Scrubber module achieves F1 91.8% on 500 manually authored samples.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RESILIENCE:</a:t>
              </a:r>
            </a:p>
            <a:p>
              <a:pPr algn="l" marL="0" indent="0" lvl="0">
                <a:lnSpc>
                  <a:spcPts val="2251"/>
                </a:lnSpc>
                <a:spcBef>
                  <a:spcPct val="0"/>
                </a:spcBef>
              </a:pPr>
              <a:r>
                <a:rPr lang="en-US" b="true" sz="18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Ingress Scrubber kết hợp Tầng 1 và Tầng 2 maintains resilience &gt; 91% against all evasion techniques and Vietnamese variants.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81382" y="2470814"/>
            <a:ext cx="6053490" cy="54912"/>
            <a:chOff x="0" y="0"/>
            <a:chExt cx="8071320" cy="73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71358" cy="73152"/>
            </a:xfrm>
            <a:custGeom>
              <a:avLst/>
              <a:gdLst/>
              <a:ahLst/>
              <a:cxnLst/>
              <a:rect r="r" b="b" t="t" l="l"/>
              <a:pathLst>
                <a:path h="73152" w="8071358">
                  <a:moveTo>
                    <a:pt x="0" y="0"/>
                  </a:moveTo>
                  <a:lnTo>
                    <a:pt x="8071358" y="0"/>
                  </a:lnTo>
                  <a:lnTo>
                    <a:pt x="807135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98137" y="9471441"/>
            <a:ext cx="16101451" cy="20593"/>
            <a:chOff x="0" y="0"/>
            <a:chExt cx="21468601" cy="274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98137" y="9534754"/>
            <a:ext cx="1413852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sz="1725" i="true" strike="noStrike" u="none">
                <a:solidFill>
                  <a:srgbClr val="64748B"/>
                </a:solidFill>
                <a:latin typeface="Arimo Italics"/>
                <a:ea typeface="Arimo Italics"/>
                <a:cs typeface="Arimo Italics"/>
                <a:sym typeface="Arimo Italics"/>
              </a:rPr>
              <a:t>Academic reference: test_vietnamese_adversarial_evasion.py, Jain et al. (NeurIPS 2023)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5099392" cy="109814"/>
            <a:chOff x="0" y="0"/>
            <a:chExt cx="20132523" cy="1464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32548" cy="146431"/>
            </a:xfrm>
            <a:custGeom>
              <a:avLst/>
              <a:gdLst/>
              <a:ahLst/>
              <a:cxnLst/>
              <a:rect r="r" b="b" t="t" l="l"/>
              <a:pathLst>
                <a:path h="146431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099392" y="0"/>
            <a:ext cx="3202448" cy="109814"/>
            <a:chOff x="0" y="0"/>
            <a:chExt cx="4269930" cy="1464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69867" cy="146431"/>
            </a:xfrm>
            <a:custGeom>
              <a:avLst/>
              <a:gdLst/>
              <a:ahLst/>
              <a:cxnLst/>
              <a:rect r="r" b="b" t="t" l="l"/>
              <a:pathLst>
                <a:path h="146431" w="4269867">
                  <a:moveTo>
                    <a:pt x="0" y="0"/>
                  </a:moveTo>
                  <a:lnTo>
                    <a:pt x="4269867" y="0"/>
                  </a:lnTo>
                  <a:lnTo>
                    <a:pt x="426986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93C5F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8137" y="411804"/>
            <a:ext cx="796147" cy="796147"/>
            <a:chOff x="0" y="0"/>
            <a:chExt cx="1061530" cy="1061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0"/>
                  </a:moveTo>
                  <a:lnTo>
                    <a:pt x="1061593" y="0"/>
                  </a:lnTo>
                  <a:lnTo>
                    <a:pt x="1061593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61530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02057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3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086461" y="282940"/>
            <a:ext cx="15113127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925" strike="noStrike" u="non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PHẦN 03 • REAL-WORLD RESPONSE TIME</a:t>
            </a:r>
          </a:p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925" strike="noStrike" u="non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ĐO LƯỜNG REAL-WORLD RESPONSE TIME THEO CÁC PHÂN VỊ P50, P95, VÀ P99 (PERCENTILE LATENCY)</a:t>
            </a:r>
          </a:p>
          <a:p>
            <a:pPr algn="l" marL="0" indent="0" lvl="0">
              <a:lnSpc>
                <a:spcPts val="3510"/>
              </a:lnSpc>
              <a:spcBef>
                <a:spcPct val="0"/>
              </a:spcBef>
            </a:pPr>
            <a:r>
              <a:rPr lang="en-US" b="true" sz="2925" strike="noStrike" u="non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Ensure instant system response without sudden congestion under heavy-load scenarios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98137" y="2306088"/>
            <a:ext cx="16101451" cy="20593"/>
            <a:chOff x="0" y="0"/>
            <a:chExt cx="21468601" cy="274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098138" y="2492740"/>
          <a:ext cx="16052641" cy="2853728"/>
        </p:xfrm>
        <a:graphic>
          <a:graphicData uri="http://schemas.openxmlformats.org/drawingml/2006/table">
            <a:tbl>
              <a:tblPr/>
              <a:tblGrid>
                <a:gridCol w="3417601"/>
                <a:gridCol w="3148675"/>
                <a:gridCol w="3148675"/>
                <a:gridCol w="3148675"/>
                <a:gridCol w="3189014"/>
              </a:tblGrid>
              <a:tr h="6015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 b="true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Nhánh Định Tuyến / Kịch Bản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19050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 b="true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Độ Trễ Trung Bình (Mean)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19050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 b="true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Phân Vị P50 (Median)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19050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 b="true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Phân Vị P95 (Chuẩn SLA)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19050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 b="true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Phân Vị P99 (Worst-case)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19050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7566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Nhánh 1. Fast-Pass (Tầng 1 thông xe)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0.82ms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0.78ms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1.15ms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1.85ms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471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Nhánh 2. Early-Block (Tầng 1 chặn ngay)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1.18ms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1.12ms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1.45ms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2.10ms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3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Nhánh 3. Full-Pipeline (Qua Tầng 2 DeBERTa)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18.40ms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17.80ms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26.50ms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1"/>
                        </a:lnSpc>
                        <a:defRPr/>
                      </a:pPr>
                      <a:r>
                        <a:rPr lang="en-US" sz="1651">
                          <a:solidFill>
                            <a:srgbClr val="47556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31.20ms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pSp>
        <p:nvGrpSpPr>
          <p:cNvPr name="Group 15" id="15"/>
          <p:cNvGrpSpPr/>
          <p:nvPr/>
        </p:nvGrpSpPr>
        <p:grpSpPr>
          <a:xfrm rot="0">
            <a:off x="1026449" y="6287786"/>
            <a:ext cx="16124330" cy="3523192"/>
            <a:chOff x="0" y="0"/>
            <a:chExt cx="21499106" cy="46975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499068" cy="4697603"/>
            </a:xfrm>
            <a:custGeom>
              <a:avLst/>
              <a:gdLst/>
              <a:ahLst/>
              <a:cxnLst/>
              <a:rect r="r" b="b" t="t" l="l"/>
              <a:pathLst>
                <a:path h="4697603" w="21499068">
                  <a:moveTo>
                    <a:pt x="0" y="0"/>
                  </a:moveTo>
                  <a:lnTo>
                    <a:pt x="21499068" y="0"/>
                  </a:lnTo>
                  <a:lnTo>
                    <a:pt x="21499068" y="4697603"/>
                  </a:lnTo>
                  <a:lnTo>
                    <a:pt x="0" y="4697603"/>
                  </a:lnTo>
                  <a:close/>
                </a:path>
              </a:pathLst>
            </a:custGeom>
            <a:solidFill>
              <a:srgbClr val="F8FAFC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499106" cy="469759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0" indent="0" lvl="0">
                <a:lnSpc>
                  <a:spcPts val="2071"/>
                </a:lnSpc>
                <a:spcBef>
                  <a:spcPct val="0"/>
                </a:spcBef>
              </a:pPr>
              <a:r>
                <a:rPr lang="en-US" b="true" sz="172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INGRESS SLA COMPLIANCE</a:t>
              </a:r>
            </a:p>
            <a:p>
              <a:pPr algn="l" marL="0" indent="0" lvl="0">
                <a:lnSpc>
                  <a:spcPts val="2071"/>
                </a:lnSpc>
                <a:spcBef>
                  <a:spcPct val="0"/>
                </a:spcBef>
              </a:pPr>
              <a:r>
                <a:rPr lang="en-US" b="true" sz="172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ĐÁNH GIÁ EXPERIMENT THỜI GIAN PHẢN HỒI: ĐẠT ĐỘ TRỄ THẤP TRÊN CPU</a:t>
              </a:r>
            </a:p>
            <a:p>
              <a:pPr algn="l" marL="0" indent="0" lvl="0">
                <a:lnSpc>
                  <a:spcPts val="2071"/>
                </a:lnSpc>
                <a:spcBef>
                  <a:spcPct val="0"/>
                </a:spcBef>
              </a:pPr>
              <a:r>
                <a:rPr lang="en-US" b="true" sz="172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Fully meets the enterprise SLA: Phân vị P95 end-to-end is only 12.9ms on a standard CPU (far exceeds the target &lt; 30ms); P99 đạt 28.4ms.</a:t>
              </a:r>
            </a:p>
            <a:p>
              <a:pPr algn="l" marL="0" indent="0" lvl="0">
                <a:lnSpc>
                  <a:spcPts val="2071"/>
                </a:lnSpc>
                <a:spcBef>
                  <a:spcPct val="0"/>
                </a:spcBef>
              </a:pPr>
              <a:r>
                <a:rPr lang="en-US" b="true" sz="172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Infrastructure cost savings: 82.6% traffic is stopped by Tier 1 trong &lt; 1.2ms; the entire system runs smoothly on commodity CPUs, without a GPU.</a:t>
              </a:r>
            </a:p>
            <a:p>
              <a:pPr algn="l" marL="0" indent="0" lvl="0">
                <a:lnSpc>
                  <a:spcPts val="2071"/>
                </a:lnSpc>
                <a:spcBef>
                  <a:spcPct val="0"/>
                </a:spcBef>
              </a:pPr>
              <a:r>
                <a:rPr lang="en-US" b="true" sz="172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REAL-WORLD PERFORMANCE:</a:t>
              </a:r>
            </a:p>
            <a:p>
              <a:pPr algn="l" marL="0" indent="0" lvl="0">
                <a:lnSpc>
                  <a:spcPts val="2071"/>
                </a:lnSpc>
                <a:spcBef>
                  <a:spcPct val="0"/>
                </a:spcBef>
              </a:pPr>
              <a:r>
                <a:rPr lang="en-US" b="true" sz="172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Độ trễ toàn trình P95 = 12.9ms trên CPU phổ thông demonstrates excellent feasibility for real-world Ingress Gateway deployment.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62863" y="5696588"/>
            <a:ext cx="15772009" cy="54912"/>
            <a:chOff x="0" y="0"/>
            <a:chExt cx="21029346" cy="73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029295" cy="73152"/>
            </a:xfrm>
            <a:custGeom>
              <a:avLst/>
              <a:gdLst/>
              <a:ahLst/>
              <a:cxnLst/>
              <a:rect r="r" b="b" t="t" l="l"/>
              <a:pathLst>
                <a:path h="73152" w="21029295">
                  <a:moveTo>
                    <a:pt x="0" y="0"/>
                  </a:moveTo>
                  <a:lnTo>
                    <a:pt x="21029295" y="0"/>
                  </a:lnTo>
                  <a:lnTo>
                    <a:pt x="21029295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98137" y="9471441"/>
            <a:ext cx="16101451" cy="20593"/>
            <a:chOff x="0" y="0"/>
            <a:chExt cx="21468601" cy="274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98137" y="9534754"/>
            <a:ext cx="1413852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sz="1725" i="true" strike="noStrike" u="none">
                <a:solidFill>
                  <a:srgbClr val="64748B"/>
                </a:solidFill>
                <a:latin typeface="Arimo Italics"/>
                <a:ea typeface="Arimo Italics"/>
                <a:cs typeface="Arimo Italics"/>
                <a:sym typeface="Arimo Italics"/>
              </a:rPr>
              <a:t>Academic reference: Đo thực tế trên testbed FastAPI Ingress Proxy, 50 workers đồng thời, CPU Intel, Fall 2026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6335375" cy="219075"/>
          </a:xfrm>
          <a:custGeom>
            <a:avLst/>
            <a:gdLst/>
            <a:ahLst/>
            <a:cxnLst/>
            <a:rect r="r" b="b" t="t" l="l"/>
            <a:pathLst>
              <a:path h="219075" w="16335375">
                <a:moveTo>
                  <a:pt x="0" y="0"/>
                </a:moveTo>
                <a:lnTo>
                  <a:pt x="16335375" y="0"/>
                </a:lnTo>
                <a:lnTo>
                  <a:pt x="1633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06775" y="0"/>
            <a:ext cx="2181225" cy="219075"/>
          </a:xfrm>
          <a:custGeom>
            <a:avLst/>
            <a:gdLst/>
            <a:ahLst/>
            <a:cxnLst/>
            <a:rect r="r" b="b" t="t" l="l"/>
            <a:pathLst>
              <a:path h="219075" w="2181225">
                <a:moveTo>
                  <a:pt x="0" y="0"/>
                </a:moveTo>
                <a:lnTo>
                  <a:pt x="2181225" y="0"/>
                </a:lnTo>
                <a:lnTo>
                  <a:pt x="2181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7700" y="638175"/>
            <a:ext cx="6762750" cy="8362950"/>
          </a:xfrm>
          <a:custGeom>
            <a:avLst/>
            <a:gdLst/>
            <a:ahLst/>
            <a:cxnLst/>
            <a:rect r="r" b="b" t="t" l="l"/>
            <a:pathLst>
              <a:path h="8362950" w="6762750">
                <a:moveTo>
                  <a:pt x="0" y="0"/>
                </a:moveTo>
                <a:lnTo>
                  <a:pt x="6762750" y="0"/>
                </a:lnTo>
                <a:lnTo>
                  <a:pt x="6762750" y="8362950"/>
                </a:lnTo>
                <a:lnTo>
                  <a:pt x="0" y="8362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7700" y="638175"/>
            <a:ext cx="1752600" cy="1724025"/>
          </a:xfrm>
          <a:custGeom>
            <a:avLst/>
            <a:gdLst/>
            <a:ahLst/>
            <a:cxnLst/>
            <a:rect r="r" b="b" t="t" l="l"/>
            <a:pathLst>
              <a:path h="1724025" w="1752600">
                <a:moveTo>
                  <a:pt x="0" y="0"/>
                </a:moveTo>
                <a:lnTo>
                  <a:pt x="1752600" y="0"/>
                </a:lnTo>
                <a:lnTo>
                  <a:pt x="1752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98448" y="3689376"/>
            <a:ext cx="5120640" cy="156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5"/>
              </a:lnSpc>
            </a:pPr>
            <a:r>
              <a:rPr lang="en-US" sz="3479" b="true">
                <a:solidFill>
                  <a:srgbClr val="FBA800"/>
                </a:solidFill>
                <a:latin typeface="Asap Bold"/>
                <a:ea typeface="Asap Bold"/>
                <a:cs typeface="Asap Bold"/>
                <a:sym typeface="Asap Bold"/>
              </a:rPr>
              <a:t>PART 04 </a:t>
            </a:r>
          </a:p>
          <a:p>
            <a:pPr algn="l">
              <a:lnSpc>
                <a:spcPts val="4105"/>
              </a:lnSpc>
            </a:pPr>
            <a:r>
              <a:rPr lang="en-US" sz="3479" b="true">
                <a:solidFill>
                  <a:srgbClr val="FBA800"/>
                </a:solidFill>
                <a:latin typeface="Asap Bold"/>
                <a:ea typeface="Asap Bold"/>
                <a:cs typeface="Asap Bold"/>
                <a:sym typeface="Asap Bold"/>
              </a:rPr>
              <a:t>RESEARCH FOCUS</a:t>
            </a:r>
          </a:p>
          <a:p>
            <a:pPr algn="l">
              <a:lnSpc>
                <a:spcPts val="410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98448" y="4899159"/>
            <a:ext cx="5742432" cy="221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7"/>
              </a:lnSpc>
            </a:pPr>
            <a:r>
              <a:rPr lang="en-US" sz="3502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PROPOSED TWO-TIER CASCADED GUARDRAIL ARCHITECTURE</a:t>
            </a:r>
          </a:p>
          <a:p>
            <a:pPr algn="l">
              <a:lnSpc>
                <a:spcPts val="4377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829550" y="638175"/>
            <a:ext cx="9372600" cy="1724025"/>
          </a:xfrm>
          <a:custGeom>
            <a:avLst/>
            <a:gdLst/>
            <a:ahLst/>
            <a:cxnLst/>
            <a:rect r="r" b="b" t="t" l="l"/>
            <a:pathLst>
              <a:path h="1724025" w="9372600">
                <a:moveTo>
                  <a:pt x="0" y="0"/>
                </a:moveTo>
                <a:lnTo>
                  <a:pt x="9372600" y="0"/>
                </a:lnTo>
                <a:lnTo>
                  <a:pt x="9372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829550" y="857250"/>
            <a:ext cx="1104900" cy="1285875"/>
          </a:xfrm>
          <a:custGeom>
            <a:avLst/>
            <a:gdLst/>
            <a:ahLst/>
            <a:cxnLst/>
            <a:rect r="r" b="b" t="t" l="l"/>
            <a:pathLst>
              <a:path h="1285875" w="1104900">
                <a:moveTo>
                  <a:pt x="0" y="0"/>
                </a:moveTo>
                <a:lnTo>
                  <a:pt x="1104900" y="0"/>
                </a:lnTo>
                <a:lnTo>
                  <a:pt x="11049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174736" y="1210913"/>
            <a:ext cx="438912" cy="51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b="true" sz="2962">
                <a:solidFill>
                  <a:srgbClr val="002F8B"/>
                </a:solidFill>
                <a:latin typeface="Asap Bold"/>
                <a:ea typeface="Asap Bold"/>
                <a:cs typeface="Asap Bold"/>
                <a:sym typeface="Asap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25712" y="1308643"/>
            <a:ext cx="7351776" cy="70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2002" b="true">
                <a:solidFill>
                  <a:srgbClr val="313C59"/>
                </a:solidFill>
                <a:latin typeface="Asap Bold"/>
                <a:ea typeface="Asap Bold"/>
                <a:cs typeface="Asap Bold"/>
                <a:sym typeface="Asap Bold"/>
              </a:rPr>
              <a:t>INTRODUCTION, SECURITY CRISIS &amp; ATTACK SURFACE</a:t>
            </a:r>
          </a:p>
          <a:p>
            <a:pPr algn="l">
              <a:lnSpc>
                <a:spcPts val="2803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829550" y="2352675"/>
            <a:ext cx="9372600" cy="1724025"/>
          </a:xfrm>
          <a:custGeom>
            <a:avLst/>
            <a:gdLst/>
            <a:ahLst/>
            <a:cxnLst/>
            <a:rect r="r" b="b" t="t" l="l"/>
            <a:pathLst>
              <a:path h="1724025" w="9372600">
                <a:moveTo>
                  <a:pt x="0" y="0"/>
                </a:moveTo>
                <a:lnTo>
                  <a:pt x="9372600" y="0"/>
                </a:lnTo>
                <a:lnTo>
                  <a:pt x="9372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829550" y="2571750"/>
            <a:ext cx="1104900" cy="1076325"/>
          </a:xfrm>
          <a:custGeom>
            <a:avLst/>
            <a:gdLst/>
            <a:ahLst/>
            <a:cxnLst/>
            <a:rect r="r" b="b" t="t" l="l"/>
            <a:pathLst>
              <a:path h="1076325" w="1104900">
                <a:moveTo>
                  <a:pt x="0" y="0"/>
                </a:moveTo>
                <a:lnTo>
                  <a:pt x="1104900" y="0"/>
                </a:lnTo>
                <a:lnTo>
                  <a:pt x="11049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174736" y="2908268"/>
            <a:ext cx="438912" cy="51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b="true" sz="2962">
                <a:solidFill>
                  <a:srgbClr val="002F8B"/>
                </a:solidFill>
                <a:latin typeface="Asap Bold"/>
                <a:ea typeface="Asap Bold"/>
                <a:cs typeface="Asap Bold"/>
                <a:sym typeface="Asap Bold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25712" y="2845216"/>
            <a:ext cx="7644384" cy="70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2002" b="true">
                <a:solidFill>
                  <a:srgbClr val="313C59"/>
                </a:solidFill>
                <a:latin typeface="Asap Bold"/>
                <a:ea typeface="Asap Bold"/>
                <a:cs typeface="Asap Bold"/>
                <a:sym typeface="Asap Bold"/>
              </a:rPr>
              <a:t>SOTA LITERATURE SURVEY, SINGLE-TIER LIMITS &amp; TRADEOFFS</a:t>
            </a:r>
          </a:p>
          <a:p>
            <a:pPr algn="l">
              <a:lnSpc>
                <a:spcPts val="2803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701087" y="6021514"/>
            <a:ext cx="8496300" cy="1724025"/>
          </a:xfrm>
          <a:custGeom>
            <a:avLst/>
            <a:gdLst/>
            <a:ahLst/>
            <a:cxnLst/>
            <a:rect r="r" b="b" t="t" l="l"/>
            <a:pathLst>
              <a:path h="1724025" w="8496300">
                <a:moveTo>
                  <a:pt x="0" y="0"/>
                </a:moveTo>
                <a:lnTo>
                  <a:pt x="8496300" y="0"/>
                </a:lnTo>
                <a:lnTo>
                  <a:pt x="8496300" y="1724026"/>
                </a:lnTo>
                <a:lnTo>
                  <a:pt x="0" y="172402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824787" y="6240590"/>
            <a:ext cx="1104900" cy="1285875"/>
          </a:xfrm>
          <a:custGeom>
            <a:avLst/>
            <a:gdLst/>
            <a:ahLst/>
            <a:cxnLst/>
            <a:rect r="r" b="b" t="t" l="l"/>
            <a:pathLst>
              <a:path h="1285875" w="1104900">
                <a:moveTo>
                  <a:pt x="0" y="0"/>
                </a:moveTo>
                <a:lnTo>
                  <a:pt x="1104900" y="0"/>
                </a:lnTo>
                <a:lnTo>
                  <a:pt x="1104900" y="1285874"/>
                </a:lnTo>
                <a:lnTo>
                  <a:pt x="0" y="12858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169973" y="6559963"/>
            <a:ext cx="438912" cy="51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b="true" sz="2962">
                <a:solidFill>
                  <a:srgbClr val="002F8B"/>
                </a:solidFill>
                <a:latin typeface="Asap Bold"/>
                <a:ea typeface="Asap Bold"/>
                <a:cs typeface="Asap Bold"/>
                <a:sym typeface="Asap Bold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73349" y="6643153"/>
            <a:ext cx="7351776" cy="35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7"/>
              </a:lnSpc>
            </a:pPr>
            <a:r>
              <a:rPr lang="en-US" b="true" sz="2076">
                <a:solidFill>
                  <a:srgbClr val="002F8B"/>
                </a:solidFill>
                <a:latin typeface="Asap Bold"/>
                <a:ea typeface="Asap Bold"/>
                <a:cs typeface="Asap Bold"/>
                <a:sym typeface="Asap Bold"/>
              </a:rPr>
              <a:t>PROPOSED TWO-TIER CASCADED GUARDRAIL ARCHITECTURE 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824788" y="4286250"/>
            <a:ext cx="9372600" cy="1504950"/>
          </a:xfrm>
          <a:custGeom>
            <a:avLst/>
            <a:gdLst/>
            <a:ahLst/>
            <a:cxnLst/>
            <a:rect r="r" b="b" t="t" l="l"/>
            <a:pathLst>
              <a:path h="1504950" w="9372600">
                <a:moveTo>
                  <a:pt x="0" y="0"/>
                </a:moveTo>
                <a:lnTo>
                  <a:pt x="9372600" y="0"/>
                </a:lnTo>
                <a:lnTo>
                  <a:pt x="937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824788" y="4505325"/>
            <a:ext cx="1104900" cy="1076325"/>
          </a:xfrm>
          <a:custGeom>
            <a:avLst/>
            <a:gdLst/>
            <a:ahLst/>
            <a:cxnLst/>
            <a:rect r="r" b="b" t="t" l="l"/>
            <a:pathLst>
              <a:path h="1076325" w="1104900">
                <a:moveTo>
                  <a:pt x="0" y="0"/>
                </a:moveTo>
                <a:lnTo>
                  <a:pt x="1104900" y="0"/>
                </a:lnTo>
                <a:lnTo>
                  <a:pt x="11049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47700" y="9429750"/>
            <a:ext cx="16554450" cy="219075"/>
          </a:xfrm>
          <a:custGeom>
            <a:avLst/>
            <a:gdLst/>
            <a:ahLst/>
            <a:cxnLst/>
            <a:rect r="r" b="b" t="t" l="l"/>
            <a:pathLst>
              <a:path h="219075" w="16554450">
                <a:moveTo>
                  <a:pt x="0" y="0"/>
                </a:moveTo>
                <a:lnTo>
                  <a:pt x="16554450" y="0"/>
                </a:lnTo>
                <a:lnTo>
                  <a:pt x="1655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59536" y="9594532"/>
            <a:ext cx="9674352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1725" strike="noStrike" u="none">
                <a:solidFill>
                  <a:srgbClr val="313C59"/>
                </a:solidFill>
                <a:latin typeface="Asap"/>
                <a:ea typeface="Asap"/>
                <a:cs typeface="Asap"/>
                <a:sym typeface="Asap"/>
              </a:rPr>
              <a:t>Academic reference: cross_dataset empirical_matrix,json from McNemar Chi-Square (p = 8.7e-25)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20950" y="4874422"/>
            <a:ext cx="7827264" cy="349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2002" b="true">
                <a:solidFill>
                  <a:srgbClr val="313C59"/>
                </a:solidFill>
                <a:latin typeface="Asap Bold"/>
                <a:ea typeface="Asap Bold"/>
                <a:cs typeface="Asap Bold"/>
                <a:sym typeface="Asap Bold"/>
              </a:rPr>
              <a:t>BENCHMARK REPLICATION, CROSS-DATASET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69974" y="4776692"/>
            <a:ext cx="438912" cy="51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b="true" sz="2962">
                <a:solidFill>
                  <a:srgbClr val="002F8B"/>
                </a:solidFill>
                <a:latin typeface="Asap Bold"/>
                <a:ea typeface="Asap Bold"/>
                <a:cs typeface="Asap Bold"/>
                <a:sym typeface="Asap Bold"/>
              </a:rPr>
              <a:t>03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-8756321" y="-7297938"/>
            <a:ext cx="11846865" cy="10102145"/>
          </a:xfrm>
          <a:custGeom>
            <a:avLst/>
            <a:gdLst/>
            <a:ahLst/>
            <a:cxnLst/>
            <a:rect r="r" b="b" t="t" l="l"/>
            <a:pathLst>
              <a:path h="10102145" w="11846865">
                <a:moveTo>
                  <a:pt x="0" y="0"/>
                </a:moveTo>
                <a:lnTo>
                  <a:pt x="11846865" y="0"/>
                </a:lnTo>
                <a:lnTo>
                  <a:pt x="11846865" y="10102145"/>
                </a:lnTo>
                <a:lnTo>
                  <a:pt x="0" y="1010214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5099392" cy="109814"/>
            <a:chOff x="0" y="0"/>
            <a:chExt cx="20132523" cy="146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32548" cy="146431"/>
            </a:xfrm>
            <a:custGeom>
              <a:avLst/>
              <a:gdLst/>
              <a:ahLst/>
              <a:cxnLst/>
              <a:rect r="r" b="b" t="t" l="l"/>
              <a:pathLst>
                <a:path h="146431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2057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099392" y="0"/>
            <a:ext cx="3202448" cy="109814"/>
            <a:chOff x="0" y="0"/>
            <a:chExt cx="4269930" cy="1464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69867" cy="146431"/>
            </a:xfrm>
            <a:custGeom>
              <a:avLst/>
              <a:gdLst/>
              <a:ahLst/>
              <a:cxnLst/>
              <a:rect r="r" b="b" t="t" l="l"/>
              <a:pathLst>
                <a:path h="146431" w="4269867">
                  <a:moveTo>
                    <a:pt x="0" y="0"/>
                  </a:moveTo>
                  <a:lnTo>
                    <a:pt x="4269867" y="0"/>
                  </a:lnTo>
                  <a:lnTo>
                    <a:pt x="426986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F9B31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8137" y="411804"/>
            <a:ext cx="796147" cy="796147"/>
            <a:chOff x="0" y="0"/>
            <a:chExt cx="1061530" cy="10615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0"/>
                  </a:moveTo>
                  <a:lnTo>
                    <a:pt x="1061593" y="0"/>
                  </a:lnTo>
                  <a:lnTo>
                    <a:pt x="1061593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061530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02057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8137" y="2306088"/>
            <a:ext cx="16101451" cy="20593"/>
            <a:chOff x="0" y="0"/>
            <a:chExt cx="21468601" cy="274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6698" y="2459374"/>
            <a:ext cx="9357046" cy="6680340"/>
            <a:chOff x="0" y="0"/>
            <a:chExt cx="12476061" cy="8907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76099" cy="8907145"/>
            </a:xfrm>
            <a:custGeom>
              <a:avLst/>
              <a:gdLst/>
              <a:ahLst/>
              <a:cxnLst/>
              <a:rect r="r" b="b" t="t" l="l"/>
              <a:pathLst>
                <a:path h="8907145" w="12476099">
                  <a:moveTo>
                    <a:pt x="0" y="0"/>
                  </a:moveTo>
                  <a:lnTo>
                    <a:pt x="12476099" y="0"/>
                  </a:lnTo>
                  <a:lnTo>
                    <a:pt x="12476099" y="8907145"/>
                  </a:lnTo>
                  <a:lnTo>
                    <a:pt x="0" y="8907145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07951" y="2470814"/>
            <a:ext cx="9114549" cy="54912"/>
            <a:chOff x="0" y="0"/>
            <a:chExt cx="12152732" cy="73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52757" cy="73152"/>
            </a:xfrm>
            <a:custGeom>
              <a:avLst/>
              <a:gdLst/>
              <a:ahLst/>
              <a:cxnLst/>
              <a:rect r="r" b="b" t="t" l="l"/>
              <a:pathLst>
                <a:path h="73152" w="12152757">
                  <a:moveTo>
                    <a:pt x="0" y="0"/>
                  </a:moveTo>
                  <a:lnTo>
                    <a:pt x="12152757" y="0"/>
                  </a:lnTo>
                  <a:lnTo>
                    <a:pt x="12152757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1211C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42752" y="2910068"/>
            <a:ext cx="9244946" cy="6163304"/>
            <a:chOff x="0" y="0"/>
            <a:chExt cx="12326595" cy="82177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26620" cy="8217789"/>
            </a:xfrm>
            <a:custGeom>
              <a:avLst/>
              <a:gdLst/>
              <a:ahLst/>
              <a:cxnLst/>
              <a:rect r="r" b="b" t="t" l="l"/>
              <a:pathLst>
                <a:path h="8217789" w="12326620">
                  <a:moveTo>
                    <a:pt x="0" y="0"/>
                  </a:moveTo>
                  <a:lnTo>
                    <a:pt x="12326620" y="0"/>
                  </a:lnTo>
                  <a:lnTo>
                    <a:pt x="12326620" y="8217789"/>
                  </a:lnTo>
                  <a:lnTo>
                    <a:pt x="0" y="8217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9" r="0" b="-4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805217" y="2459374"/>
            <a:ext cx="6405801" cy="7177173"/>
            <a:chOff x="0" y="0"/>
            <a:chExt cx="8541068" cy="95695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41131" cy="9569590"/>
            </a:xfrm>
            <a:custGeom>
              <a:avLst/>
              <a:gdLst/>
              <a:ahLst/>
              <a:cxnLst/>
              <a:rect r="r" b="b" t="t" l="l"/>
              <a:pathLst>
                <a:path h="9569590" w="8541131">
                  <a:moveTo>
                    <a:pt x="0" y="0"/>
                  </a:moveTo>
                  <a:lnTo>
                    <a:pt x="8541131" y="0"/>
                  </a:lnTo>
                  <a:lnTo>
                    <a:pt x="8541131" y="9569590"/>
                  </a:lnTo>
                  <a:lnTo>
                    <a:pt x="0" y="9569590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8541068" cy="957908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0" indent="0" lvl="0">
                <a:lnSpc>
                  <a:spcPts val="2851"/>
                </a:lnSpc>
                <a:spcBef>
                  <a:spcPct val="0"/>
                </a:spcBef>
              </a:pPr>
              <a:r>
                <a:rPr lang="en-US" b="true" sz="23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SECURITY DESIGN</a:t>
              </a:r>
            </a:p>
            <a:p>
              <a:pPr algn="l" marL="0" indent="0" lvl="0">
                <a:lnSpc>
                  <a:spcPts val="2851"/>
                </a:lnSpc>
                <a:spcBef>
                  <a:spcPct val="0"/>
                </a:spcBef>
              </a:pPr>
              <a:r>
                <a:rPr lang="en-US" b="true" sz="23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CHUYỂN HÓA PRINCIPLES THÀNH KIẾN TRÚC</a:t>
              </a:r>
            </a:p>
            <a:p>
              <a:pPr algn="l" marL="0" indent="0" lvl="0">
                <a:lnSpc>
                  <a:spcPts val="2851"/>
                </a:lnSpc>
                <a:spcBef>
                  <a:spcPct val="0"/>
                </a:spcBef>
              </a:pPr>
              <a:r>
                <a:rPr lang="en-US" sz="2376" strike="noStrike" u="none">
                  <a:solidFill>
                    <a:srgbClr val="0DB04B"/>
                  </a:solidFill>
                  <a:latin typeface="Segoe UI"/>
                  <a:ea typeface="Segoe UI"/>
                  <a:cs typeface="Segoe UI"/>
                  <a:sym typeface="Segoe UI"/>
                </a:rPr>
                <a:t>• </a:t>
              </a:r>
              <a:r>
                <a:rPr lang="en-US" sz="2376" strike="noStrike" u="none">
                  <a:solidFill>
                    <a:srgbClr val="000000"/>
                  </a:solidFill>
                  <a:latin typeface="Segoe UI"/>
                  <a:ea typeface="Segoe UI"/>
                  <a:cs typeface="Segoe UI"/>
                  <a:sym typeface="Segoe UI"/>
                </a:rPr>
                <a:t>Economy of Mechanism: The ultra-light Tier 1 TF-IDF frees 82.6% of load, with a lean, verifiable architecture.</a:t>
              </a:r>
            </a:p>
            <a:p>
              <a:pPr algn="l" marL="0" indent="0" lvl="0">
                <a:lnSpc>
                  <a:spcPts val="2851"/>
                </a:lnSpc>
                <a:spcBef>
                  <a:spcPct val="0"/>
                </a:spcBef>
              </a:pPr>
              <a:r>
                <a:rPr lang="en-US" sz="2376" strike="noStrike" u="none">
                  <a:solidFill>
                    <a:srgbClr val="000000"/>
                  </a:solidFill>
                  <a:latin typeface="Segoe UI"/>
                  <a:ea typeface="Segoe UI"/>
                  <a:cs typeface="Segoe UI"/>
                  <a:sym typeface="Segoe UI"/>
                </a:rPr>
                <a:t>• Fail-Safe Defaults: Falling into the uncertainty region (0.15 &lt;= p &lt;= 0.85) immediately escalates to Tier 2.</a:t>
              </a:r>
            </a:p>
            <a:p>
              <a:pPr algn="l" marL="0" indent="0" lvl="0">
                <a:lnSpc>
                  <a:spcPts val="2851"/>
                </a:lnSpc>
                <a:spcBef>
                  <a:spcPct val="0"/>
                </a:spcBef>
              </a:pPr>
              <a:r>
                <a:rPr lang="en-US" sz="2376" strike="noStrike" u="none">
                  <a:solidFill>
                    <a:srgbClr val="000000"/>
                  </a:solidFill>
                  <a:latin typeface="Segoe UI"/>
                  <a:ea typeface="Segoe UI"/>
                  <a:cs typeface="Segoe UI"/>
                  <a:sym typeface="Segoe UI"/>
                </a:rPr>
                <a:t>• Complete Mediation: PI-Guard acts as a mandatory independent Gateway Proxy before every LLM query.</a:t>
              </a:r>
            </a:p>
            <a:p>
              <a:pPr algn="l" marL="0" indent="0" lvl="0">
                <a:lnSpc>
                  <a:spcPts val="2851"/>
                </a:lnSpc>
                <a:spcBef>
                  <a:spcPct val="0"/>
                </a:spcBef>
              </a:pPr>
              <a:r>
                <a:rPr lang="en-US" sz="2376" strike="noStrike" u="none">
                  <a:solidFill>
                    <a:srgbClr val="000000"/>
                  </a:solidFill>
                  <a:latin typeface="Segoe UI"/>
                  <a:ea typeface="Segoe UI"/>
                  <a:cs typeface="Segoe UI"/>
                  <a:sym typeface="Segoe UI"/>
                </a:rPr>
                <a:t>• Least Privilege: The guardrail receives text-read access only and is fully isolated from storage systems.</a:t>
              </a:r>
            </a:p>
            <a:p>
              <a:pPr algn="l" marL="0" indent="0" lvl="0">
                <a:lnSpc>
                  <a:spcPts val="2851"/>
                </a:lnSpc>
                <a:spcBef>
                  <a:spcPct val="0"/>
                </a:spcBef>
              </a:pPr>
              <a:r>
                <a:rPr lang="en-US" b="true" sz="2376" strike="noStrike" u="none">
                  <a:solidFill>
                    <a:srgbClr val="0DB04B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IMPLEMENTATION DESIGN:</a:t>
              </a:r>
            </a:p>
            <a:p>
              <a:pPr algn="l" marL="0" indent="0" lvl="0">
                <a:lnSpc>
                  <a:spcPts val="2851"/>
                </a:lnSpc>
                <a:spcBef>
                  <a:spcPct val="0"/>
                </a:spcBef>
              </a:pPr>
              <a:r>
                <a:rPr lang="en-US" b="true" sz="2376" strike="noStrike" u="none">
                  <a:solidFill>
                    <a:srgbClr val="000000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PI-Guard fully implements classic information-security principles in a practical two-tier guardrail architecture.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81382" y="2470814"/>
            <a:ext cx="6053490" cy="54912"/>
            <a:chOff x="0" y="0"/>
            <a:chExt cx="8071320" cy="73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71358" cy="73152"/>
            </a:xfrm>
            <a:custGeom>
              <a:avLst/>
              <a:gdLst/>
              <a:ahLst/>
              <a:cxnLst/>
              <a:rect r="r" b="b" t="t" l="l"/>
              <a:pathLst>
                <a:path h="73152" w="8071358">
                  <a:moveTo>
                    <a:pt x="0" y="0"/>
                  </a:moveTo>
                  <a:lnTo>
                    <a:pt x="8071358" y="0"/>
                  </a:lnTo>
                  <a:lnTo>
                    <a:pt x="807135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DB04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8137" y="9471441"/>
            <a:ext cx="16101451" cy="20593"/>
            <a:chOff x="0" y="0"/>
            <a:chExt cx="21468601" cy="274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086461" y="301990"/>
            <a:ext cx="1511312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1"/>
              </a:lnSpc>
              <a:spcBef>
                <a:spcPct val="0"/>
              </a:spcBef>
            </a:pPr>
            <a:r>
              <a:rPr lang="en-US" b="true" sz="1726" strike="noStrike" u="none">
                <a:solidFill>
                  <a:srgbClr val="1211CA"/>
                </a:solidFill>
                <a:latin typeface="Segoe UI Bold"/>
                <a:ea typeface="Segoe UI Bold"/>
                <a:cs typeface="Segoe UI Bold"/>
                <a:sym typeface="Segoe UI Bold"/>
              </a:rPr>
              <a:t>PHẦN 04 • DESIGN FOUNDATION</a:t>
            </a:r>
          </a:p>
          <a:p>
            <a:pPr algn="l" marL="0" indent="0" lvl="0">
              <a:lnSpc>
                <a:spcPts val="2071"/>
              </a:lnSpc>
              <a:spcBef>
                <a:spcPct val="0"/>
              </a:spcBef>
            </a:pPr>
            <a:r>
              <a:rPr lang="en-US" b="true" sz="1726" strike="noStrike" u="none">
                <a:solidFill>
                  <a:srgbClr val="1211CA"/>
                </a:solidFill>
                <a:latin typeface="Segoe UI Bold"/>
                <a:ea typeface="Segoe UI Bold"/>
                <a:cs typeface="Segoe UI Bold"/>
                <a:sym typeface="Segoe UI Bold"/>
              </a:rPr>
              <a:t>DESIGN FOUNDATION: DERIVING FROM 8 PRINCIPLES AN TOÀN SALTZER &amp; SCHROEDER (1975)</a:t>
            </a:r>
          </a:p>
          <a:p>
            <a:pPr algn="l" marL="0" indent="0" lvl="0">
              <a:lnSpc>
                <a:spcPts val="2071"/>
              </a:lnSpc>
              <a:spcBef>
                <a:spcPct val="0"/>
              </a:spcBef>
            </a:pPr>
            <a:r>
              <a:rPr lang="en-US" b="true" sz="1726" strike="noStrike" u="none">
                <a:solidFill>
                  <a:srgbClr val="1211CA"/>
                </a:solidFill>
                <a:latin typeface="Segoe UI Bold"/>
                <a:ea typeface="Segoe UI Bold"/>
                <a:cs typeface="Segoe UI Bold"/>
                <a:sym typeface="Segoe UI Bold"/>
              </a:rPr>
              <a:t>Founding the system architecture on classic computer-security principles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8137" y="9553804"/>
            <a:ext cx="1413852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1"/>
              </a:lnSpc>
              <a:spcBef>
                <a:spcPct val="0"/>
              </a:spcBef>
            </a:pPr>
            <a:r>
              <a:rPr lang="en-US" sz="1726" i="true" strike="noStrike" u="none">
                <a:solidFill>
                  <a:srgbClr val="64748B"/>
                </a:solidFill>
                <a:latin typeface="Segoe UI"/>
                <a:ea typeface="Segoe UI"/>
                <a:cs typeface="Segoe UI"/>
                <a:sym typeface="Segoe UI"/>
              </a:rPr>
              <a:t>Academic reference: Saltzer &amp; Schroeder (The Protection of Information in Computer Systems, IEEE 1975)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5099392" cy="109814"/>
            <a:chOff x="0" y="0"/>
            <a:chExt cx="20132523" cy="146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32548" cy="146431"/>
            </a:xfrm>
            <a:custGeom>
              <a:avLst/>
              <a:gdLst/>
              <a:ahLst/>
              <a:cxnLst/>
              <a:rect r="r" b="b" t="t" l="l"/>
              <a:pathLst>
                <a:path h="146431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2057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099392" y="0"/>
            <a:ext cx="3202448" cy="109814"/>
            <a:chOff x="0" y="0"/>
            <a:chExt cx="4269930" cy="1464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69867" cy="146431"/>
            </a:xfrm>
            <a:custGeom>
              <a:avLst/>
              <a:gdLst/>
              <a:ahLst/>
              <a:cxnLst/>
              <a:rect r="r" b="b" t="t" l="l"/>
              <a:pathLst>
                <a:path h="146431" w="4269867">
                  <a:moveTo>
                    <a:pt x="0" y="0"/>
                  </a:moveTo>
                  <a:lnTo>
                    <a:pt x="4269867" y="0"/>
                  </a:lnTo>
                  <a:lnTo>
                    <a:pt x="426986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F9B31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8137" y="411804"/>
            <a:ext cx="796147" cy="796147"/>
            <a:chOff x="0" y="0"/>
            <a:chExt cx="1061530" cy="10615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0"/>
                  </a:moveTo>
                  <a:lnTo>
                    <a:pt x="1061593" y="0"/>
                  </a:lnTo>
                  <a:lnTo>
                    <a:pt x="1061593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061530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02057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4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086461" y="301990"/>
            <a:ext cx="15113127" cy="192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211CA"/>
                </a:solidFill>
                <a:latin typeface="Segoe UI Bold"/>
                <a:ea typeface="Segoe UI Bold"/>
                <a:cs typeface="Segoe UI Bold"/>
                <a:sym typeface="Segoe UI Bold"/>
              </a:rPr>
              <a:t>PHẦN 04 • KIẾN TRÚC HỆ THỐNG</a:t>
            </a:r>
          </a:p>
          <a:p>
            <a:pPr algn="l">
              <a:lnSpc>
                <a:spcPts val="3512"/>
              </a:lnSpc>
            </a:pPr>
            <a:r>
              <a:rPr lang="en-US" sz="2927" b="true">
                <a:solidFill>
                  <a:srgbClr val="02057E"/>
                </a:solidFill>
                <a:latin typeface="Segoe UI Bold"/>
                <a:ea typeface="Segoe UI Bold"/>
                <a:cs typeface="Segoe UI Bold"/>
                <a:sym typeface="Segoe UI Bold"/>
              </a:rPr>
              <a:t>SƠ ĐỒ KIẾN TRÚC TỔNG THỂ HỆ THỐNG RÀO CHẮN PHÂN TẦNG PI-GUARD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64748B"/>
                </a:solidFill>
                <a:latin typeface="Segoe UI"/>
                <a:ea typeface="Segoe UI"/>
                <a:cs typeface="Segoe UI"/>
                <a:sym typeface="Segoe UI"/>
              </a:rPr>
              <a:t>Quy trình xử lý 4 giai đoạn khép kín từ tiền xử lý cửa ngõ, bộ lọc nhanh đến trọng tài ngữ nghĩa sâu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98137" y="2306088"/>
            <a:ext cx="16101451" cy="20593"/>
            <a:chOff x="0" y="0"/>
            <a:chExt cx="21468601" cy="274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86698" y="2459374"/>
            <a:ext cx="9357046" cy="6680340"/>
            <a:chOff x="0" y="0"/>
            <a:chExt cx="12476061" cy="8907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476099" cy="8907145"/>
            </a:xfrm>
            <a:custGeom>
              <a:avLst/>
              <a:gdLst/>
              <a:ahLst/>
              <a:cxnLst/>
              <a:rect r="r" b="b" t="t" l="l"/>
              <a:pathLst>
                <a:path h="8907145" w="12476099">
                  <a:moveTo>
                    <a:pt x="0" y="0"/>
                  </a:moveTo>
                  <a:lnTo>
                    <a:pt x="12476099" y="0"/>
                  </a:lnTo>
                  <a:lnTo>
                    <a:pt x="12476099" y="8907145"/>
                  </a:lnTo>
                  <a:lnTo>
                    <a:pt x="0" y="8907145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07951" y="2470814"/>
            <a:ext cx="9114549" cy="54912"/>
            <a:chOff x="0" y="0"/>
            <a:chExt cx="12152732" cy="73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152757" cy="73152"/>
            </a:xfrm>
            <a:custGeom>
              <a:avLst/>
              <a:gdLst/>
              <a:ahLst/>
              <a:cxnLst/>
              <a:rect r="r" b="b" t="t" l="l"/>
              <a:pathLst>
                <a:path h="73152" w="12152757">
                  <a:moveTo>
                    <a:pt x="0" y="0"/>
                  </a:moveTo>
                  <a:lnTo>
                    <a:pt x="12152757" y="0"/>
                  </a:lnTo>
                  <a:lnTo>
                    <a:pt x="12152757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1211C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41181" y="2910068"/>
            <a:ext cx="9248080" cy="6163304"/>
            <a:chOff x="0" y="0"/>
            <a:chExt cx="12330773" cy="8217738"/>
          </a:xfrm>
        </p:grpSpPr>
        <p:sp>
          <p:nvSpPr>
            <p:cNvPr name="Freeform 18" id="18" descr="fig_arch_pipeline_overview.png"/>
            <p:cNvSpPr/>
            <p:nvPr/>
          </p:nvSpPr>
          <p:spPr>
            <a:xfrm flipH="false" flipV="false" rot="0">
              <a:off x="0" y="0"/>
              <a:ext cx="12330811" cy="8217789"/>
            </a:xfrm>
            <a:custGeom>
              <a:avLst/>
              <a:gdLst/>
              <a:ahLst/>
              <a:cxnLst/>
              <a:rect r="r" b="b" t="t" l="l"/>
              <a:pathLst>
                <a:path h="8217789" w="12330811">
                  <a:moveTo>
                    <a:pt x="0" y="0"/>
                  </a:moveTo>
                  <a:lnTo>
                    <a:pt x="12330811" y="0"/>
                  </a:lnTo>
                  <a:lnTo>
                    <a:pt x="12330811" y="8217789"/>
                  </a:lnTo>
                  <a:lnTo>
                    <a:pt x="0" y="8217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805217" y="2459374"/>
            <a:ext cx="6405801" cy="6804755"/>
            <a:chOff x="0" y="0"/>
            <a:chExt cx="8541068" cy="90730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41131" cy="9073031"/>
            </a:xfrm>
            <a:custGeom>
              <a:avLst/>
              <a:gdLst/>
              <a:ahLst/>
              <a:cxnLst/>
              <a:rect r="r" b="b" t="t" l="l"/>
              <a:pathLst>
                <a:path h="9073031" w="8541131">
                  <a:moveTo>
                    <a:pt x="0" y="0"/>
                  </a:moveTo>
                  <a:lnTo>
                    <a:pt x="8541131" y="0"/>
                  </a:lnTo>
                  <a:lnTo>
                    <a:pt x="8541131" y="9073031"/>
                  </a:lnTo>
                  <a:lnTo>
                    <a:pt x="0" y="9073031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8541068" cy="9073006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971"/>
                </a:lnSpc>
              </a:pPr>
              <a:r>
                <a:rPr lang="en-US" sz="2476" b="true">
                  <a:solidFill>
                    <a:srgbClr val="1211C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KIẾN TRÚC ĐƯỜNG ỐNG</a:t>
              </a:r>
            </a:p>
            <a:p>
              <a:pPr algn="l">
                <a:lnSpc>
                  <a:spcPts val="3241"/>
                </a:lnSpc>
              </a:pPr>
              <a:r>
                <a:rPr lang="en-US" sz="2701" b="true">
                  <a:solidFill>
                    <a:srgbClr val="02057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THÔNG SỐ VẬN HÀNH TOÀN TRÌNH</a:t>
              </a:r>
            </a:p>
            <a:p>
              <a:pPr algn="l">
                <a:lnSpc>
                  <a:spcPts val="2881"/>
                </a:lnSpc>
              </a:pPr>
              <a:r>
                <a:rPr lang="en-US" sz="2401">
                  <a:solidFill>
                    <a:srgbClr val="101828"/>
                  </a:solidFill>
                  <a:latin typeface="Segoe UI"/>
                  <a:ea typeface="Segoe UI"/>
                  <a:cs typeface="Segoe UI"/>
                  <a:sym typeface="Segoe UI"/>
                </a:rPr>
                <a:t>• Giai đoạn 0 (Ingress Scrubber): Khử Base64, Hex, Leetspeak, chuẩn hóa Unicode NFKC trong 0.12ms.</a:t>
              </a:r>
            </a:p>
            <a:p>
              <a:pPr algn="l">
                <a:lnSpc>
                  <a:spcPts val="2881"/>
                </a:lnSpc>
              </a:pPr>
              <a:r>
                <a:rPr lang="en-US" sz="2401">
                  <a:solidFill>
                    <a:srgbClr val="101828"/>
                  </a:solidFill>
                  <a:latin typeface="Segoe UI"/>
                  <a:ea typeface="Segoe UI"/>
                  <a:cs typeface="Segoe UI"/>
                  <a:sym typeface="Segoe UI"/>
                </a:rPr>
                <a:t>• Giai đoạn 1 (Tầng 1 Dual TF-IDF): Vector hóa ma trận thưa CSR + Platt Scaling, xử lý 100% tải (0.85ms).</a:t>
              </a:r>
            </a:p>
            <a:p>
              <a:pPr algn="l">
                <a:lnSpc>
                  <a:spcPts val="2881"/>
                </a:lnSpc>
              </a:pPr>
              <a:r>
                <a:rPr lang="en-US" sz="2401">
                  <a:solidFill>
                    <a:srgbClr val="101828"/>
                  </a:solidFill>
                  <a:latin typeface="Segoe UI"/>
                  <a:ea typeface="Segoe UI"/>
                  <a:cs typeface="Segoe UI"/>
                  <a:sym typeface="Segoe UI"/>
                </a:rPr>
                <a:t>• Giai đoạn 2 (Router 3 Luồng): Phân loại sớm giải phóng 82.6% tải (71.3% Pass, 11.3% Block).</a:t>
              </a:r>
            </a:p>
            <a:p>
              <a:pPr algn="l">
                <a:lnSpc>
                  <a:spcPts val="2881"/>
                </a:lnSpc>
              </a:pPr>
              <a:r>
                <a:rPr lang="en-US" sz="2401">
                  <a:solidFill>
                    <a:srgbClr val="101828"/>
                  </a:solidFill>
                  <a:latin typeface="Segoe UI"/>
                  <a:ea typeface="Segoe UI"/>
                  <a:cs typeface="Segoe UI"/>
                  <a:sym typeface="Segoe UI"/>
                </a:rPr>
                <a:t>• Giai đoạn 3 (Tầng 2 DeBERTa-v3): Thẩm định sâu 17.4% ca bất định (0.15 &lt;= p &lt;= 0.85) trong 18.5ms CPU.</a:t>
              </a:r>
            </a:p>
            <a:p>
              <a:pPr algn="l">
                <a:lnSpc>
                  <a:spcPts val="2791"/>
                </a:lnSpc>
              </a:pPr>
              <a:r>
                <a:rPr lang="en-US" sz="2326" b="true">
                  <a:solidFill>
                    <a:srgbClr val="1211C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HIỆU SUẤT TOÀN TRÌNH:</a:t>
              </a:r>
            </a:p>
            <a:p>
              <a:pPr algn="l">
                <a:lnSpc>
                  <a:spcPts val="2701"/>
                </a:lnSpc>
              </a:pPr>
              <a:r>
                <a:rPr lang="en-US" sz="2251" b="true">
                  <a:solidFill>
                    <a:srgbClr val="101828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Mô hình Two-Tier Cascade đạt độ trễ trung bình 2.85ms, P95 &lt; 25ms, tiết kiệm 82.6% chi phí suy luận.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81382" y="2470814"/>
            <a:ext cx="6053490" cy="54912"/>
            <a:chOff x="0" y="0"/>
            <a:chExt cx="8071320" cy="732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071358" cy="73152"/>
            </a:xfrm>
            <a:custGeom>
              <a:avLst/>
              <a:gdLst/>
              <a:ahLst/>
              <a:cxnLst/>
              <a:rect r="r" b="b" t="t" l="l"/>
              <a:pathLst>
                <a:path h="73152" w="8071358">
                  <a:moveTo>
                    <a:pt x="0" y="0"/>
                  </a:moveTo>
                  <a:lnTo>
                    <a:pt x="8071358" y="0"/>
                  </a:lnTo>
                  <a:lnTo>
                    <a:pt x="807135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1211C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98137" y="9471441"/>
            <a:ext cx="16101451" cy="20593"/>
            <a:chOff x="0" y="0"/>
            <a:chExt cx="21468601" cy="2745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98137" y="9553804"/>
            <a:ext cx="1413852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1"/>
              </a:lnSpc>
              <a:spcBef>
                <a:spcPct val="0"/>
              </a:spcBef>
            </a:pPr>
            <a:r>
              <a:rPr lang="en-US" sz="1726" i="true" strike="noStrike" u="none">
                <a:solidFill>
                  <a:srgbClr val="64748B"/>
                </a:solidFill>
                <a:latin typeface="Segoe UI"/>
                <a:ea typeface="Segoe UI"/>
                <a:cs typeface="Segoe UI"/>
                <a:sym typeface="Segoe UI"/>
              </a:rPr>
              <a:t>Academic reference: PI-Guard Architecture: Two-Tier Cascade Design (Fall 2026)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5099392" cy="109814"/>
            <a:chOff x="0" y="0"/>
            <a:chExt cx="20132523" cy="146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32548" cy="146431"/>
            </a:xfrm>
            <a:custGeom>
              <a:avLst/>
              <a:gdLst/>
              <a:ahLst/>
              <a:cxnLst/>
              <a:rect r="r" b="b" t="t" l="l"/>
              <a:pathLst>
                <a:path h="146431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2057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099392" y="0"/>
            <a:ext cx="3202448" cy="109814"/>
            <a:chOff x="0" y="0"/>
            <a:chExt cx="4269930" cy="1464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69867" cy="146431"/>
            </a:xfrm>
            <a:custGeom>
              <a:avLst/>
              <a:gdLst/>
              <a:ahLst/>
              <a:cxnLst/>
              <a:rect r="r" b="b" t="t" l="l"/>
              <a:pathLst>
                <a:path h="146431" w="4269867">
                  <a:moveTo>
                    <a:pt x="0" y="0"/>
                  </a:moveTo>
                  <a:lnTo>
                    <a:pt x="4269867" y="0"/>
                  </a:lnTo>
                  <a:lnTo>
                    <a:pt x="426986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F9B31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8137" y="411804"/>
            <a:ext cx="796147" cy="796147"/>
            <a:chOff x="0" y="0"/>
            <a:chExt cx="1061530" cy="10615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0"/>
                  </a:moveTo>
                  <a:lnTo>
                    <a:pt x="1061593" y="0"/>
                  </a:lnTo>
                  <a:lnTo>
                    <a:pt x="1061593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061530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02057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4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086461" y="301990"/>
            <a:ext cx="15113127" cy="192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211CA"/>
                </a:solidFill>
                <a:latin typeface="Segoe UI Bold"/>
                <a:ea typeface="Segoe UI Bold"/>
                <a:cs typeface="Segoe UI Bold"/>
                <a:sym typeface="Segoe UI Bold"/>
              </a:rPr>
              <a:t>PHẦN 04 • PHÂN TÍCH ĐỊNH TUYẾN</a:t>
            </a:r>
          </a:p>
          <a:p>
            <a:pPr algn="l">
              <a:lnSpc>
                <a:spcPts val="3512"/>
              </a:lnSpc>
            </a:pPr>
            <a:r>
              <a:rPr lang="en-US" sz="2927" b="true">
                <a:solidFill>
                  <a:srgbClr val="02057E"/>
                </a:solidFill>
                <a:latin typeface="Segoe UI Bold"/>
                <a:ea typeface="Segoe UI Bold"/>
                <a:cs typeface="Segoe UI Bold"/>
                <a:sym typeface="Segoe UI Bold"/>
              </a:rPr>
              <a:t>TẠI SAO DÙNG BỘ ĐỊNH TUYẾN 3 LUỒNG THAY VÌ PHÂN LOẠI NHỊ PHÂN 1-0?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64748B"/>
                </a:solidFill>
                <a:latin typeface="Segoe UI"/>
                <a:ea typeface="Segoe UI"/>
                <a:cs typeface="Segoe UI"/>
                <a:sym typeface="Segoe UI"/>
              </a:rPr>
              <a:t>Cơ sở toán học từ Lý thuyết phân loại có quyền từ chối (Chow 1970) và mô hình định tuyến CASCADE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98137" y="2306088"/>
            <a:ext cx="16101451" cy="20593"/>
            <a:chOff x="0" y="0"/>
            <a:chExt cx="21468601" cy="274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86698" y="2459374"/>
            <a:ext cx="9357046" cy="6680340"/>
            <a:chOff x="0" y="0"/>
            <a:chExt cx="12476061" cy="8907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476099" cy="8907145"/>
            </a:xfrm>
            <a:custGeom>
              <a:avLst/>
              <a:gdLst/>
              <a:ahLst/>
              <a:cxnLst/>
              <a:rect r="r" b="b" t="t" l="l"/>
              <a:pathLst>
                <a:path h="8907145" w="12476099">
                  <a:moveTo>
                    <a:pt x="0" y="0"/>
                  </a:moveTo>
                  <a:lnTo>
                    <a:pt x="12476099" y="0"/>
                  </a:lnTo>
                  <a:lnTo>
                    <a:pt x="12476099" y="8907145"/>
                  </a:lnTo>
                  <a:lnTo>
                    <a:pt x="0" y="8907145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07951" y="2470814"/>
            <a:ext cx="9114549" cy="54912"/>
            <a:chOff x="0" y="0"/>
            <a:chExt cx="12152732" cy="73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152757" cy="73152"/>
            </a:xfrm>
            <a:custGeom>
              <a:avLst/>
              <a:gdLst/>
              <a:ahLst/>
              <a:cxnLst/>
              <a:rect r="r" b="b" t="t" l="l"/>
              <a:pathLst>
                <a:path h="73152" w="12152757">
                  <a:moveTo>
                    <a:pt x="0" y="0"/>
                  </a:moveTo>
                  <a:lnTo>
                    <a:pt x="12152757" y="0"/>
                  </a:lnTo>
                  <a:lnTo>
                    <a:pt x="12152757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7E22C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39314" y="2944930"/>
            <a:ext cx="9251813" cy="6093562"/>
            <a:chOff x="0" y="0"/>
            <a:chExt cx="12335751" cy="81247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335764" cy="8124698"/>
            </a:xfrm>
            <a:custGeom>
              <a:avLst/>
              <a:gdLst/>
              <a:ahLst/>
              <a:cxnLst/>
              <a:rect r="r" b="b" t="t" l="l"/>
              <a:pathLst>
                <a:path h="8124698" w="12335764">
                  <a:moveTo>
                    <a:pt x="0" y="0"/>
                  </a:moveTo>
                  <a:lnTo>
                    <a:pt x="12335764" y="0"/>
                  </a:lnTo>
                  <a:lnTo>
                    <a:pt x="12335764" y="8124698"/>
                  </a:lnTo>
                  <a:lnTo>
                    <a:pt x="0" y="8124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60" r="0" b="-76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805217" y="2459374"/>
            <a:ext cx="6405801" cy="6815223"/>
            <a:chOff x="0" y="0"/>
            <a:chExt cx="8541068" cy="90869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41131" cy="9086990"/>
            </a:xfrm>
            <a:custGeom>
              <a:avLst/>
              <a:gdLst/>
              <a:ahLst/>
              <a:cxnLst/>
              <a:rect r="r" b="b" t="t" l="l"/>
              <a:pathLst>
                <a:path h="9086990" w="8541131">
                  <a:moveTo>
                    <a:pt x="0" y="0"/>
                  </a:moveTo>
                  <a:lnTo>
                    <a:pt x="8541131" y="0"/>
                  </a:lnTo>
                  <a:lnTo>
                    <a:pt x="8541131" y="9086990"/>
                  </a:lnTo>
                  <a:lnTo>
                    <a:pt x="0" y="9086990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8541068" cy="909648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0" indent="0" lvl="0">
                <a:lnSpc>
                  <a:spcPts val="2851"/>
                </a:lnSpc>
                <a:spcBef>
                  <a:spcPct val="0"/>
                </a:spcBef>
              </a:pPr>
              <a:r>
                <a:rPr lang="en-US" b="true" sz="23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CƠ SỞ TOÁN HỌC &amp; ĐỊNH TUYẾN</a:t>
              </a:r>
            </a:p>
            <a:p>
              <a:pPr algn="l" marL="0" indent="0" lvl="0">
                <a:lnSpc>
                  <a:spcPts val="2851"/>
                </a:lnSpc>
                <a:spcBef>
                  <a:spcPct val="0"/>
                </a:spcBef>
              </a:pPr>
              <a:r>
                <a:rPr lang="en-US" b="true" sz="23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PRINCIPLES 3 LUỒNG VS NHỊ PHÂN 1-0</a:t>
              </a:r>
            </a:p>
            <a:p>
              <a:pPr algn="l" marL="0" indent="0" lvl="0">
                <a:lnSpc>
                  <a:spcPts val="2851"/>
                </a:lnSpc>
                <a:spcBef>
                  <a:spcPct val="0"/>
                </a:spcBef>
              </a:pPr>
              <a:r>
                <a:rPr lang="en-US" sz="2376" strike="noStrike" u="none">
                  <a:solidFill>
                    <a:srgbClr val="000000"/>
                  </a:solidFill>
                  <a:latin typeface="Segoe UI"/>
                  <a:ea typeface="Segoe UI"/>
                  <a:cs typeface="Segoe UI"/>
                  <a:sym typeface="Segoe UI"/>
                </a:rPr>
                <a:t>• Nghịch lý nhị phân 1-0: Ngưỡng cứng đơn lẻ (p = 0.5) ép quyết định, gây bùng nổ báo động giả (FPR).</a:t>
              </a:r>
            </a:p>
            <a:p>
              <a:pPr algn="l" marL="0" indent="0" lvl="0">
                <a:lnSpc>
                  <a:spcPts val="2851"/>
                </a:lnSpc>
                <a:spcBef>
                  <a:spcPct val="0"/>
                </a:spcBef>
              </a:pPr>
              <a:r>
                <a:rPr lang="en-US" sz="2376" strike="noStrike" u="none">
                  <a:solidFill>
                    <a:srgbClr val="000000"/>
                  </a:solidFill>
                  <a:latin typeface="Segoe UI"/>
                  <a:ea typeface="Segoe UI"/>
                  <a:cs typeface="Segoe UI"/>
                  <a:sym typeface="Segoe UI"/>
                </a:rPr>
                <a:t>• Lý thuyết từ chối (Chow 1970): Vùng bất định (Reject Option) cho phép từ chối quyết định khi chưa chắc chắn.</a:t>
              </a:r>
            </a:p>
            <a:p>
              <a:pPr algn="l" marL="0" indent="0" lvl="0">
                <a:lnSpc>
                  <a:spcPts val="2851"/>
                </a:lnSpc>
                <a:spcBef>
                  <a:spcPct val="0"/>
                </a:spcBef>
              </a:pPr>
              <a:r>
                <a:rPr lang="en-US" sz="2376" strike="noStrike" u="none">
                  <a:solidFill>
                    <a:srgbClr val="000000"/>
                  </a:solidFill>
                  <a:latin typeface="Segoe UI"/>
                  <a:ea typeface="Segoe UI"/>
                  <a:cs typeface="Segoe UI"/>
                  <a:sym typeface="Segoe UI"/>
                </a:rPr>
                <a:t>• Định tuyến CASCADE (Luo &amp; Han 2026): Phối hợp mô hình nhẹ và sâu để tối ưu biên độ Pareto giữa tốc độ và độ an toàn.</a:t>
              </a:r>
            </a:p>
            <a:p>
              <a:pPr algn="l" marL="0" indent="0" lvl="0">
                <a:lnSpc>
                  <a:spcPts val="2851"/>
                </a:lnSpc>
                <a:spcBef>
                  <a:spcPct val="0"/>
                </a:spcBef>
              </a:pPr>
              <a:r>
                <a:rPr lang="en-US" sz="2376" strike="noStrike" u="none">
                  <a:solidFill>
                    <a:srgbClr val="000000"/>
                  </a:solidFill>
                  <a:latin typeface="Segoe UI"/>
                  <a:ea typeface="Segoe UI"/>
                  <a:cs typeface="Segoe UI"/>
                  <a:sym typeface="Segoe UI"/>
                </a:rPr>
                <a:t>• Conformal Risk Control (Angelopoulos 2024): Đảm bảo chặn ranh giới FPR &lt; 1.5% với độ tin cậy thống kê 99%.</a:t>
              </a:r>
            </a:p>
            <a:p>
              <a:pPr algn="l" marL="0" indent="0" lvl="0">
                <a:lnSpc>
                  <a:spcPts val="2851"/>
                </a:lnSpc>
                <a:spcBef>
                  <a:spcPct val="0"/>
                </a:spcBef>
              </a:pPr>
              <a:r>
                <a:rPr lang="en-US" b="true" sz="23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ĐỘT PHÁ ĐỊNH TUYẾN:</a:t>
              </a:r>
            </a:p>
            <a:p>
              <a:pPr algn="l" marL="0" indent="0" lvl="0">
                <a:lnSpc>
                  <a:spcPts val="2851"/>
                </a:lnSpc>
                <a:spcBef>
                  <a:spcPct val="0"/>
                </a:spcBef>
              </a:pPr>
              <a:r>
                <a:rPr lang="en-US" b="true" sz="2376" strike="noStrike" u="none">
                  <a:solidFill>
                    <a:srgbClr val="7E22C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Bộ định tuyến 3 luồng loại bỏ điểm mù của phân loại nhị phân 1-0, giải phóng 82.6% tải mà vẫn bảo toàn an ninh.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81382" y="2470814"/>
            <a:ext cx="6053490" cy="54912"/>
            <a:chOff x="0" y="0"/>
            <a:chExt cx="8071320" cy="732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071358" cy="73152"/>
            </a:xfrm>
            <a:custGeom>
              <a:avLst/>
              <a:gdLst/>
              <a:ahLst/>
              <a:cxnLst/>
              <a:rect r="r" b="b" t="t" l="l"/>
              <a:pathLst>
                <a:path h="73152" w="8071358">
                  <a:moveTo>
                    <a:pt x="0" y="0"/>
                  </a:moveTo>
                  <a:lnTo>
                    <a:pt x="8071358" y="0"/>
                  </a:lnTo>
                  <a:lnTo>
                    <a:pt x="807135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7E22C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98137" y="9471441"/>
            <a:ext cx="16101451" cy="20593"/>
            <a:chOff x="0" y="0"/>
            <a:chExt cx="21468601" cy="2745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98137" y="9553804"/>
            <a:ext cx="1413852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1"/>
              </a:lnSpc>
              <a:spcBef>
                <a:spcPct val="0"/>
              </a:spcBef>
            </a:pPr>
            <a:r>
              <a:rPr lang="en-US" sz="1726" i="true" strike="noStrike" u="none">
                <a:solidFill>
                  <a:srgbClr val="64748B"/>
                </a:solidFill>
                <a:latin typeface="Segoe UI"/>
                <a:ea typeface="Segoe UI"/>
                <a:cs typeface="Segoe UI"/>
                <a:sym typeface="Segoe UI"/>
              </a:rPr>
              <a:t>Academic reference: Chow (IEEE TIT 1970), Luo &amp; Han (CASCADE, arXiv 2026), Angelopoulos et al. (2024)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5099392" cy="109814"/>
            <a:chOff x="0" y="0"/>
            <a:chExt cx="20132523" cy="146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32548" cy="146431"/>
            </a:xfrm>
            <a:custGeom>
              <a:avLst/>
              <a:gdLst/>
              <a:ahLst/>
              <a:cxnLst/>
              <a:rect r="r" b="b" t="t" l="l"/>
              <a:pathLst>
                <a:path h="146431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2057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099392" y="0"/>
            <a:ext cx="3202448" cy="109814"/>
            <a:chOff x="0" y="0"/>
            <a:chExt cx="4269930" cy="1464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69867" cy="146431"/>
            </a:xfrm>
            <a:custGeom>
              <a:avLst/>
              <a:gdLst/>
              <a:ahLst/>
              <a:cxnLst/>
              <a:rect r="r" b="b" t="t" l="l"/>
              <a:pathLst>
                <a:path h="146431" w="4269867">
                  <a:moveTo>
                    <a:pt x="0" y="0"/>
                  </a:moveTo>
                  <a:lnTo>
                    <a:pt x="4269867" y="0"/>
                  </a:lnTo>
                  <a:lnTo>
                    <a:pt x="426986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F9B31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8137" y="411804"/>
            <a:ext cx="796147" cy="796147"/>
            <a:chOff x="0" y="0"/>
            <a:chExt cx="1061530" cy="10615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0"/>
                  </a:moveTo>
                  <a:lnTo>
                    <a:pt x="1061593" y="0"/>
                  </a:lnTo>
                  <a:lnTo>
                    <a:pt x="1061593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061530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02057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8137" y="2306088"/>
            <a:ext cx="16101451" cy="20593"/>
            <a:chOff x="0" y="0"/>
            <a:chExt cx="21468601" cy="274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6698" y="2459374"/>
            <a:ext cx="9357046" cy="6680340"/>
            <a:chOff x="0" y="0"/>
            <a:chExt cx="12476061" cy="8907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76099" cy="8907145"/>
            </a:xfrm>
            <a:custGeom>
              <a:avLst/>
              <a:gdLst/>
              <a:ahLst/>
              <a:cxnLst/>
              <a:rect r="r" b="b" t="t" l="l"/>
              <a:pathLst>
                <a:path h="8907145" w="12476099">
                  <a:moveTo>
                    <a:pt x="0" y="0"/>
                  </a:moveTo>
                  <a:lnTo>
                    <a:pt x="12476099" y="0"/>
                  </a:lnTo>
                  <a:lnTo>
                    <a:pt x="12476099" y="8907145"/>
                  </a:lnTo>
                  <a:lnTo>
                    <a:pt x="0" y="8907145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07951" y="2470814"/>
            <a:ext cx="9114549" cy="54912"/>
            <a:chOff x="0" y="0"/>
            <a:chExt cx="12152732" cy="73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52757" cy="73152"/>
            </a:xfrm>
            <a:custGeom>
              <a:avLst/>
              <a:gdLst/>
              <a:ahLst/>
              <a:cxnLst/>
              <a:rect r="r" b="b" t="t" l="l"/>
              <a:pathLst>
                <a:path h="73152" w="12152757">
                  <a:moveTo>
                    <a:pt x="0" y="0"/>
                  </a:moveTo>
                  <a:lnTo>
                    <a:pt x="12152757" y="0"/>
                  </a:lnTo>
                  <a:lnTo>
                    <a:pt x="12152757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DB04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42752" y="2910068"/>
            <a:ext cx="9244946" cy="6163304"/>
            <a:chOff x="0" y="0"/>
            <a:chExt cx="12326595" cy="82177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26620" cy="8217789"/>
            </a:xfrm>
            <a:custGeom>
              <a:avLst/>
              <a:gdLst/>
              <a:ahLst/>
              <a:cxnLst/>
              <a:rect r="r" b="b" t="t" l="l"/>
              <a:pathLst>
                <a:path h="8217789" w="12326620">
                  <a:moveTo>
                    <a:pt x="0" y="0"/>
                  </a:moveTo>
                  <a:lnTo>
                    <a:pt x="12326620" y="0"/>
                  </a:lnTo>
                  <a:lnTo>
                    <a:pt x="12326620" y="8217789"/>
                  </a:lnTo>
                  <a:lnTo>
                    <a:pt x="0" y="8217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9" t="0" r="-149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805217" y="2459374"/>
            <a:ext cx="6405801" cy="6725113"/>
            <a:chOff x="0" y="0"/>
            <a:chExt cx="8541068" cy="89668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41131" cy="8966843"/>
            </a:xfrm>
            <a:custGeom>
              <a:avLst/>
              <a:gdLst/>
              <a:ahLst/>
              <a:cxnLst/>
              <a:rect r="r" b="b" t="t" l="l"/>
              <a:pathLst>
                <a:path h="8966843" w="8541131">
                  <a:moveTo>
                    <a:pt x="0" y="0"/>
                  </a:moveTo>
                  <a:lnTo>
                    <a:pt x="8541131" y="0"/>
                  </a:lnTo>
                  <a:lnTo>
                    <a:pt x="8541131" y="8966843"/>
                  </a:lnTo>
                  <a:lnTo>
                    <a:pt x="0" y="8966843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541068" cy="896681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11"/>
                </a:lnSpc>
              </a:pPr>
              <a:r>
                <a:rPr lang="en-US" sz="21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ROUTING</a:t>
              </a:r>
              <a:r>
                <a:rPr lang="en-US" sz="21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 MECHANICS</a:t>
              </a:r>
            </a:p>
            <a:p>
              <a:pPr algn="l">
                <a:lnSpc>
                  <a:spcPts val="2611"/>
                </a:lnSpc>
              </a:pPr>
              <a:r>
                <a:rPr lang="en-US" sz="21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SWI</a:t>
              </a:r>
              <a:r>
                <a:rPr lang="en-US" sz="21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TCHING LOGIC &amp; WORKLOAD ALLOCATION</a:t>
              </a:r>
            </a:p>
            <a:p>
              <a:pPr algn="l">
                <a:lnSpc>
                  <a:spcPts val="2611"/>
                </a:lnSpc>
              </a:pPr>
              <a:r>
                <a:rPr lang="en-US" sz="21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</a:t>
              </a:r>
              <a:r>
                <a:rPr lang="en-US" sz="2176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Stream 1 (Fast-Pass, 71.3% traffic): When p &lt; 0.15; immediately forwards to LLM in 0.85ms on CPU (FNR = 0.00%). Zero perceptible user latency.</a:t>
              </a:r>
            </a:p>
            <a:p>
              <a:pPr algn="l">
                <a:lnSpc>
                  <a:spcPts val="2611"/>
                </a:lnSpc>
              </a:pPr>
              <a:r>
                <a:rPr lang="en-US" sz="2176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• Stream 2 (Early-Block, 11.3% traffic): When p &gt; 0.85; instantly blocks with HTTP 403 in 1.20ms (FPR = 0.00% on NotInject), saving 100% LLM tokens.</a:t>
              </a:r>
            </a:p>
            <a:p>
              <a:pPr algn="l">
                <a:lnSpc>
                  <a:spcPts val="2611"/>
                </a:lnSpc>
              </a:pPr>
              <a:r>
                <a:rPr lang="en-US" sz="2176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• Stream 3 (Escalate to Tier 2, 17.4% traffic): Uncertainty zone (0.15 &lt;= p &lt;= 0.85); triggers DeBERTa-v3 MOF in 18.5ms CPU to resolve intricate attacks.</a:t>
              </a:r>
            </a:p>
            <a:p>
              <a:pPr algn="l">
                <a:lnSpc>
                  <a:spcPts val="2611"/>
                </a:lnSpc>
              </a:pPr>
              <a:r>
                <a:rPr lang="en-US" sz="2176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• Cascaded Breakthrough: 82.6% of requests are definitively resolved at Tier 1 (&lt; 1.2ms), delivering a 5.7x workload reduction for Tier 2.</a:t>
              </a:r>
            </a:p>
            <a:p>
              <a:pPr algn="l">
                <a:lnSpc>
                  <a:spcPts val="2611"/>
                </a:lnSpc>
              </a:pPr>
              <a:r>
                <a:rPr lang="en-US" sz="21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RO</a:t>
              </a:r>
              <a:r>
                <a:rPr lang="en-US" sz="21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UTING EFFICIENCY:</a:t>
              </a:r>
            </a:p>
            <a:p>
              <a:pPr algn="l">
                <a:lnSpc>
                  <a:spcPts val="2611"/>
                </a:lnSpc>
              </a:pPr>
              <a:r>
                <a:rPr lang="en-US" sz="2176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Tri-s</a:t>
              </a:r>
              <a:r>
                <a:rPr lang="en-US" sz="2176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tate routing resolves 82.6% of traffic in &lt; 1.2ms, dedicating full Tier 2 capacity to the 17.4% subtle injection vectors.</a:t>
              </a:r>
            </a:p>
            <a:p>
              <a:pPr algn="l">
                <a:lnSpc>
                  <a:spcPts val="234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81382" y="2470814"/>
            <a:ext cx="6053490" cy="54912"/>
            <a:chOff x="0" y="0"/>
            <a:chExt cx="8071320" cy="73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71358" cy="73152"/>
            </a:xfrm>
            <a:custGeom>
              <a:avLst/>
              <a:gdLst/>
              <a:ahLst/>
              <a:cxnLst/>
              <a:rect r="r" b="b" t="t" l="l"/>
              <a:pathLst>
                <a:path h="73152" w="8071358">
                  <a:moveTo>
                    <a:pt x="0" y="0"/>
                  </a:moveTo>
                  <a:lnTo>
                    <a:pt x="8071358" y="0"/>
                  </a:lnTo>
                  <a:lnTo>
                    <a:pt x="807135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DB04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8137" y="9471441"/>
            <a:ext cx="16101451" cy="20593"/>
            <a:chOff x="0" y="0"/>
            <a:chExt cx="21468601" cy="274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086461" y="484051"/>
            <a:ext cx="1511312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927" b="true">
                <a:solidFill>
                  <a:srgbClr val="02057E"/>
                </a:solidFill>
                <a:latin typeface="Segoe UI Bold"/>
                <a:ea typeface="Segoe UI Bold"/>
                <a:cs typeface="Segoe UI Bold"/>
                <a:sym typeface="Segoe UI Bold"/>
              </a:rPr>
              <a:t>DE</a:t>
            </a:r>
            <a:r>
              <a:rPr lang="en-US" sz="2927" b="true">
                <a:solidFill>
                  <a:srgbClr val="02057E"/>
                </a:solidFill>
                <a:latin typeface="Segoe UI Bold"/>
                <a:ea typeface="Segoe UI Bold"/>
                <a:cs typeface="Segoe UI Bold"/>
                <a:sym typeface="Segoe UI Bold"/>
              </a:rPr>
              <a:t>TAILED OPERATIONAL MECHANISM OF TRI-STATE ROUTING</a:t>
            </a:r>
          </a:p>
          <a:p>
            <a:pPr algn="l">
              <a:lnSpc>
                <a:spcPts val="2251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98137" y="9553804"/>
            <a:ext cx="1413852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1"/>
              </a:lnSpc>
              <a:spcBef>
                <a:spcPct val="0"/>
              </a:spcBef>
            </a:pPr>
            <a:r>
              <a:rPr lang="en-US" sz="1726" i="true" strike="noStrike" u="none">
                <a:solidFill>
                  <a:srgbClr val="64748B"/>
                </a:solidFill>
                <a:latin typeface="Segoe UI"/>
                <a:ea typeface="Segoe UI"/>
                <a:cs typeface="Segoe UI"/>
                <a:sym typeface="Segoe UI"/>
              </a:rPr>
              <a:t>Academic reference: Luo &amp; Han (CASCADE Routing Paradigm, arXiv 2026), Chow (1970)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5099392" cy="109814"/>
            <a:chOff x="0" y="0"/>
            <a:chExt cx="20132523" cy="146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32548" cy="146431"/>
            </a:xfrm>
            <a:custGeom>
              <a:avLst/>
              <a:gdLst/>
              <a:ahLst/>
              <a:cxnLst/>
              <a:rect r="r" b="b" t="t" l="l"/>
              <a:pathLst>
                <a:path h="146431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2057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099392" y="0"/>
            <a:ext cx="3202448" cy="109814"/>
            <a:chOff x="0" y="0"/>
            <a:chExt cx="4269930" cy="1464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69867" cy="146431"/>
            </a:xfrm>
            <a:custGeom>
              <a:avLst/>
              <a:gdLst/>
              <a:ahLst/>
              <a:cxnLst/>
              <a:rect r="r" b="b" t="t" l="l"/>
              <a:pathLst>
                <a:path h="146431" w="4269867">
                  <a:moveTo>
                    <a:pt x="0" y="0"/>
                  </a:moveTo>
                  <a:lnTo>
                    <a:pt x="4269867" y="0"/>
                  </a:lnTo>
                  <a:lnTo>
                    <a:pt x="426986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F9B31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8137" y="411804"/>
            <a:ext cx="796147" cy="796147"/>
            <a:chOff x="0" y="0"/>
            <a:chExt cx="1061530" cy="10615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0"/>
                  </a:moveTo>
                  <a:lnTo>
                    <a:pt x="1061593" y="0"/>
                  </a:lnTo>
                  <a:lnTo>
                    <a:pt x="1061593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061530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02057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8137" y="2306088"/>
            <a:ext cx="16101451" cy="20593"/>
            <a:chOff x="0" y="0"/>
            <a:chExt cx="21468601" cy="274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6698" y="2459374"/>
            <a:ext cx="9357046" cy="6680340"/>
            <a:chOff x="0" y="0"/>
            <a:chExt cx="12476061" cy="8907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76099" cy="8907145"/>
            </a:xfrm>
            <a:custGeom>
              <a:avLst/>
              <a:gdLst/>
              <a:ahLst/>
              <a:cxnLst/>
              <a:rect r="r" b="b" t="t" l="l"/>
              <a:pathLst>
                <a:path h="8907145" w="12476099">
                  <a:moveTo>
                    <a:pt x="0" y="0"/>
                  </a:moveTo>
                  <a:lnTo>
                    <a:pt x="12476099" y="0"/>
                  </a:lnTo>
                  <a:lnTo>
                    <a:pt x="12476099" y="8907145"/>
                  </a:lnTo>
                  <a:lnTo>
                    <a:pt x="0" y="8907145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07951" y="2470814"/>
            <a:ext cx="9114549" cy="54912"/>
            <a:chOff x="0" y="0"/>
            <a:chExt cx="12152732" cy="73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52757" cy="73152"/>
            </a:xfrm>
            <a:custGeom>
              <a:avLst/>
              <a:gdLst/>
              <a:ahLst/>
              <a:cxnLst/>
              <a:rect r="r" b="b" t="t" l="l"/>
              <a:pathLst>
                <a:path h="73152" w="12152757">
                  <a:moveTo>
                    <a:pt x="0" y="0"/>
                  </a:moveTo>
                  <a:lnTo>
                    <a:pt x="12152757" y="0"/>
                  </a:lnTo>
                  <a:lnTo>
                    <a:pt x="12152757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1211C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41403" y="2910068"/>
            <a:ext cx="9047645" cy="6163304"/>
            <a:chOff x="0" y="0"/>
            <a:chExt cx="12063527" cy="82177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63476" cy="8217789"/>
            </a:xfrm>
            <a:custGeom>
              <a:avLst/>
              <a:gdLst/>
              <a:ahLst/>
              <a:cxnLst/>
              <a:rect r="r" b="b" t="t" l="l"/>
              <a:pathLst>
                <a:path h="8217789" w="12063476">
                  <a:moveTo>
                    <a:pt x="0" y="0"/>
                  </a:moveTo>
                  <a:lnTo>
                    <a:pt x="12063476" y="0"/>
                  </a:lnTo>
                  <a:lnTo>
                    <a:pt x="12063476" y="8217789"/>
                  </a:lnTo>
                  <a:lnTo>
                    <a:pt x="0" y="8217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42" t="0" r="-1242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805217" y="2459374"/>
            <a:ext cx="6405801" cy="7130633"/>
            <a:chOff x="0" y="0"/>
            <a:chExt cx="8541068" cy="95075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41131" cy="9507535"/>
            </a:xfrm>
            <a:custGeom>
              <a:avLst/>
              <a:gdLst/>
              <a:ahLst/>
              <a:cxnLst/>
              <a:rect r="r" b="b" t="t" l="l"/>
              <a:pathLst>
                <a:path h="9507535" w="8541131">
                  <a:moveTo>
                    <a:pt x="0" y="0"/>
                  </a:moveTo>
                  <a:lnTo>
                    <a:pt x="8541131" y="0"/>
                  </a:lnTo>
                  <a:lnTo>
                    <a:pt x="8541131" y="9507535"/>
                  </a:lnTo>
                  <a:lnTo>
                    <a:pt x="0" y="9507535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8541068" cy="951703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51"/>
                </a:lnSpc>
              </a:pPr>
              <a:r>
                <a:rPr lang="en-US" sz="23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INGRESS</a:t>
              </a:r>
              <a:r>
                <a:rPr lang="en-US" sz="23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 SYNTACTIC SANI</a:t>
              </a:r>
              <a:r>
                <a:rPr lang="en-US" sz="23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TIZATION</a:t>
              </a:r>
            </a:p>
            <a:p>
              <a:pPr algn="l">
                <a:lnSpc>
                  <a:spcPts val="2851"/>
                </a:lnSpc>
              </a:pPr>
              <a:r>
                <a:rPr lang="en-US" sz="23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4-STAGE DE-OBFUSCATION PIPELINE</a:t>
              </a:r>
            </a:p>
            <a:p>
              <a:pPr algn="l">
                <a:lnSpc>
                  <a:spcPts val="2851"/>
                </a:lnSpc>
              </a:pPr>
              <a:r>
                <a:rPr lang="en-US" sz="2376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• Stage 1 - Unicode NFKC: Neutralizes homoglyphs by mapping Cyrillic and Greek lookalikes to canonical Latin characters.</a:t>
              </a:r>
            </a:p>
            <a:p>
              <a:pPr algn="l">
                <a:lnSpc>
                  <a:spcPts val="2851"/>
                </a:lnSpc>
              </a:pPr>
              <a:r>
                <a:rPr lang="en-US" sz="2376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• Stage 2 - Zero-Width Stripper: Purges invisible characters (U+200B, U+200C, U+FEFF) injected between keyword tokens.</a:t>
              </a:r>
            </a:p>
            <a:p>
              <a:pPr algn="l">
                <a:lnSpc>
                  <a:spcPts val="2851"/>
                </a:lnSpc>
              </a:pPr>
              <a:r>
                <a:rPr lang="en-US" sz="2376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• Stage 3 - Regex Ingress Decoder: Automatically detects and decodes Base64, Hex, URL-encoding, and Rot13 encodings.</a:t>
              </a:r>
            </a:p>
            <a:p>
              <a:pPr algn="l">
                <a:lnSpc>
                  <a:spcPts val="2851"/>
                </a:lnSpc>
              </a:pPr>
              <a:r>
                <a:rPr lang="en-US" sz="2376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• Stage 4 - Vietnamese Scrubber: Restores diacritical marks and evaluates regional adversarial attack signatures.</a:t>
              </a:r>
            </a:p>
            <a:p>
              <a:pPr algn="l">
                <a:lnSpc>
                  <a:spcPts val="2851"/>
                </a:lnSpc>
              </a:pPr>
              <a:r>
                <a:rPr lang="en-US" sz="23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DE-OBF</a:t>
              </a:r>
              <a:r>
                <a:rPr lang="en-US" sz="23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USCATION GUARANTEE:</a:t>
              </a:r>
            </a:p>
            <a:p>
              <a:pPr algn="l">
                <a:lnSpc>
                  <a:spcPts val="2851"/>
                </a:lnSpc>
              </a:pPr>
              <a:r>
                <a:rPr lang="en-US" sz="2376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Tier 0 strips all superficial obfuscations in just 0.12ms, exposing canonicalized payloads for downstream classification.</a:t>
              </a:r>
            </a:p>
            <a:p>
              <a:pPr algn="l">
                <a:lnSpc>
                  <a:spcPts val="258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81382" y="2470814"/>
            <a:ext cx="6053490" cy="54912"/>
            <a:chOff x="0" y="0"/>
            <a:chExt cx="8071320" cy="73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71358" cy="73152"/>
            </a:xfrm>
            <a:custGeom>
              <a:avLst/>
              <a:gdLst/>
              <a:ahLst/>
              <a:cxnLst/>
              <a:rect r="r" b="b" t="t" l="l"/>
              <a:pathLst>
                <a:path h="73152" w="8071358">
                  <a:moveTo>
                    <a:pt x="0" y="0"/>
                  </a:moveTo>
                  <a:lnTo>
                    <a:pt x="8071358" y="0"/>
                  </a:lnTo>
                  <a:lnTo>
                    <a:pt x="807135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1211C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8137" y="9471441"/>
            <a:ext cx="16101451" cy="20593"/>
            <a:chOff x="0" y="0"/>
            <a:chExt cx="21468601" cy="274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086461" y="301990"/>
            <a:ext cx="15113127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927" b="true">
                <a:solidFill>
                  <a:srgbClr val="02057E"/>
                </a:solidFill>
                <a:latin typeface="Segoe UI Bold"/>
                <a:ea typeface="Segoe UI Bold"/>
                <a:cs typeface="Segoe UI Bold"/>
                <a:sym typeface="Segoe UI Bold"/>
              </a:rPr>
              <a:t>TIER 0 PRE-PROCESSING (INGRESS SCRUBBER): </a:t>
            </a:r>
          </a:p>
          <a:p>
            <a:pPr algn="l">
              <a:lnSpc>
                <a:spcPts val="3512"/>
              </a:lnSpc>
            </a:pPr>
            <a:r>
              <a:rPr lang="en-US" sz="2927" b="true">
                <a:solidFill>
                  <a:srgbClr val="02057E"/>
                </a:solidFill>
                <a:latin typeface="Segoe UI Bold"/>
                <a:ea typeface="Segoe UI Bold"/>
                <a:cs typeface="Segoe UI Bold"/>
                <a:sym typeface="Segoe UI Bold"/>
              </a:rPr>
              <a:t>CANONICALIZATION &amp; DE-OBFUSCATION</a:t>
            </a:r>
          </a:p>
          <a:p>
            <a:pPr algn="l">
              <a:lnSpc>
                <a:spcPts val="2251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98137" y="9553804"/>
            <a:ext cx="1413852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1"/>
              </a:lnSpc>
              <a:spcBef>
                <a:spcPct val="0"/>
              </a:spcBef>
            </a:pPr>
            <a:r>
              <a:rPr lang="en-US" sz="1726" i="true" strike="noStrike" u="none">
                <a:solidFill>
                  <a:srgbClr val="64748B"/>
                </a:solidFill>
                <a:latin typeface="Segoe UI"/>
                <a:ea typeface="Segoe UI"/>
                <a:cs typeface="Segoe UI"/>
                <a:sym typeface="Segoe UI"/>
              </a:rPr>
              <a:t>Academic reference: Unicode Standard Annex #15 (NFKC), Jain et al. (Baseline Defenses, NeurIPS 2023)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5099392" cy="109814"/>
            <a:chOff x="0" y="0"/>
            <a:chExt cx="20132523" cy="146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32548" cy="146431"/>
            </a:xfrm>
            <a:custGeom>
              <a:avLst/>
              <a:gdLst/>
              <a:ahLst/>
              <a:cxnLst/>
              <a:rect r="r" b="b" t="t" l="l"/>
              <a:pathLst>
                <a:path h="146431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2057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099392" y="0"/>
            <a:ext cx="3202448" cy="109814"/>
            <a:chOff x="0" y="0"/>
            <a:chExt cx="4269930" cy="1464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69867" cy="146431"/>
            </a:xfrm>
            <a:custGeom>
              <a:avLst/>
              <a:gdLst/>
              <a:ahLst/>
              <a:cxnLst/>
              <a:rect r="r" b="b" t="t" l="l"/>
              <a:pathLst>
                <a:path h="146431" w="4269867">
                  <a:moveTo>
                    <a:pt x="0" y="0"/>
                  </a:moveTo>
                  <a:lnTo>
                    <a:pt x="4269867" y="0"/>
                  </a:lnTo>
                  <a:lnTo>
                    <a:pt x="426986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F9B31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8137" y="411804"/>
            <a:ext cx="796147" cy="796147"/>
            <a:chOff x="0" y="0"/>
            <a:chExt cx="1061530" cy="10615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0"/>
                  </a:moveTo>
                  <a:lnTo>
                    <a:pt x="1061593" y="0"/>
                  </a:lnTo>
                  <a:lnTo>
                    <a:pt x="1061593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061530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02057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8137" y="2306088"/>
            <a:ext cx="16101451" cy="20593"/>
            <a:chOff x="0" y="0"/>
            <a:chExt cx="21468601" cy="274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6698" y="2459374"/>
            <a:ext cx="9357046" cy="6680340"/>
            <a:chOff x="0" y="0"/>
            <a:chExt cx="12476061" cy="8907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76099" cy="8907145"/>
            </a:xfrm>
            <a:custGeom>
              <a:avLst/>
              <a:gdLst/>
              <a:ahLst/>
              <a:cxnLst/>
              <a:rect r="r" b="b" t="t" l="l"/>
              <a:pathLst>
                <a:path h="8907145" w="12476099">
                  <a:moveTo>
                    <a:pt x="0" y="0"/>
                  </a:moveTo>
                  <a:lnTo>
                    <a:pt x="12476099" y="0"/>
                  </a:lnTo>
                  <a:lnTo>
                    <a:pt x="12476099" y="8907145"/>
                  </a:lnTo>
                  <a:lnTo>
                    <a:pt x="0" y="8907145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07951" y="2470814"/>
            <a:ext cx="9114549" cy="54912"/>
            <a:chOff x="0" y="0"/>
            <a:chExt cx="12152732" cy="73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52757" cy="73152"/>
            </a:xfrm>
            <a:custGeom>
              <a:avLst/>
              <a:gdLst/>
              <a:ahLst/>
              <a:cxnLst/>
              <a:rect r="r" b="b" t="t" l="l"/>
              <a:pathLst>
                <a:path h="73152" w="12152757">
                  <a:moveTo>
                    <a:pt x="0" y="0"/>
                  </a:moveTo>
                  <a:lnTo>
                    <a:pt x="12152757" y="0"/>
                  </a:lnTo>
                  <a:lnTo>
                    <a:pt x="12152757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7E22C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39314" y="2944930"/>
            <a:ext cx="9251813" cy="6093562"/>
            <a:chOff x="0" y="0"/>
            <a:chExt cx="12335751" cy="81247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35764" cy="8124698"/>
            </a:xfrm>
            <a:custGeom>
              <a:avLst/>
              <a:gdLst/>
              <a:ahLst/>
              <a:cxnLst/>
              <a:rect r="r" b="b" t="t" l="l"/>
              <a:pathLst>
                <a:path h="8124698" w="12335764">
                  <a:moveTo>
                    <a:pt x="0" y="0"/>
                  </a:moveTo>
                  <a:lnTo>
                    <a:pt x="12335764" y="0"/>
                  </a:lnTo>
                  <a:lnTo>
                    <a:pt x="12335764" y="8124698"/>
                  </a:lnTo>
                  <a:lnTo>
                    <a:pt x="0" y="8124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" r="0" b="-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805217" y="2459374"/>
            <a:ext cx="6405801" cy="7203084"/>
            <a:chOff x="0" y="0"/>
            <a:chExt cx="8541068" cy="96041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41131" cy="9604137"/>
            </a:xfrm>
            <a:custGeom>
              <a:avLst/>
              <a:gdLst/>
              <a:ahLst/>
              <a:cxnLst/>
              <a:rect r="r" b="b" t="t" l="l"/>
              <a:pathLst>
                <a:path h="9604137" w="8541131">
                  <a:moveTo>
                    <a:pt x="0" y="0"/>
                  </a:moveTo>
                  <a:lnTo>
                    <a:pt x="8541131" y="0"/>
                  </a:lnTo>
                  <a:lnTo>
                    <a:pt x="8541131" y="9604137"/>
                  </a:lnTo>
                  <a:lnTo>
                    <a:pt x="0" y="9604137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541068" cy="960411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731"/>
                </a:lnSpc>
              </a:pPr>
              <a:r>
                <a:rPr lang="en-US" sz="22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DU</a:t>
              </a:r>
              <a:r>
                <a:rPr lang="en-US" sz="22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AL-SPACE &amp; CALIBRATION</a:t>
              </a:r>
            </a:p>
            <a:p>
              <a:pPr algn="l">
                <a:lnSpc>
                  <a:spcPts val="2731"/>
                </a:lnSpc>
              </a:pPr>
              <a:r>
                <a:rPr lang="en-US" sz="22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CSR VECTORIZATION &amp; PLATT CALIBRATION</a:t>
              </a:r>
            </a:p>
            <a:p>
              <a:pPr algn="l">
                <a:lnSpc>
                  <a:spcPts val="2731"/>
                </a:lnSpc>
              </a:pPr>
              <a:r>
                <a:rPr lang="en-US" sz="22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</a:t>
              </a:r>
              <a:r>
                <a:rPr lang="en-US" sz="2276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Word N-grams (1-3 words): 20k features capturing explicit directive phrases ('ignore previous', 'disregard system').</a:t>
              </a:r>
            </a:p>
            <a:p>
              <a:pPr algn="l">
                <a:lnSpc>
                  <a:spcPts val="2731"/>
                </a:lnSpc>
              </a:pPr>
              <a:r>
                <a:rPr lang="en-US" sz="2276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• Char_wb N-grams (3-5 chars): 30k word-boundary features catching Leetspeak ('1gn0r3') and arbitrary whitespace insertions.</a:t>
              </a:r>
            </a:p>
            <a:p>
              <a:pPr algn="l">
                <a:lnSpc>
                  <a:spcPts val="2731"/>
                </a:lnSpc>
              </a:pPr>
              <a:r>
                <a:rPr lang="en-US" sz="2276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• Sparse CSR Matrix: Reduces RAM footprint by 75%, delivering blazing 0.85ms inference on standard CPUs.</a:t>
              </a:r>
            </a:p>
            <a:p>
              <a:pPr algn="l">
                <a:lnSpc>
                  <a:spcPts val="2731"/>
                </a:lnSpc>
              </a:pPr>
              <a:r>
                <a:rPr lang="en-US" sz="2276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• Platt Scaling Calibration: Applies sigmoid mapping P = 1 / (1 + exp(Af + B)), converting raw SVM margins into well-calibrated probabilities.</a:t>
              </a:r>
            </a:p>
            <a:p>
              <a:pPr algn="l">
                <a:lnSpc>
                  <a:spcPts val="2851"/>
                </a:lnSpc>
              </a:pPr>
              <a:r>
                <a:rPr lang="en-US" sz="23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D</a:t>
              </a:r>
              <a:r>
                <a:rPr lang="en-US" sz="23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UAL-SPACE ADVANTAGE:</a:t>
              </a:r>
            </a:p>
            <a:p>
              <a:pPr algn="l">
                <a:lnSpc>
                  <a:spcPts val="2851"/>
                </a:lnSpc>
              </a:pPr>
              <a:r>
                <a:rPr lang="en-US" sz="2376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Dual-space modeli</a:t>
              </a:r>
              <a:r>
                <a:rPr lang="en-US" sz="2376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ng combined with Platt Scaling empowers Tier 1 with high precision and reliable probabilities for routing.</a:t>
              </a:r>
            </a:p>
            <a:p>
              <a:pPr algn="l">
                <a:lnSpc>
                  <a:spcPts val="258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81382" y="2470814"/>
            <a:ext cx="6053490" cy="54912"/>
            <a:chOff x="0" y="0"/>
            <a:chExt cx="8071320" cy="73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71358" cy="73152"/>
            </a:xfrm>
            <a:custGeom>
              <a:avLst/>
              <a:gdLst/>
              <a:ahLst/>
              <a:cxnLst/>
              <a:rect r="r" b="b" t="t" l="l"/>
              <a:pathLst>
                <a:path h="73152" w="8071358">
                  <a:moveTo>
                    <a:pt x="0" y="0"/>
                  </a:moveTo>
                  <a:lnTo>
                    <a:pt x="8071358" y="0"/>
                  </a:lnTo>
                  <a:lnTo>
                    <a:pt x="807135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7E22C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8137" y="9471441"/>
            <a:ext cx="16101451" cy="20593"/>
            <a:chOff x="0" y="0"/>
            <a:chExt cx="21468601" cy="274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086461" y="447927"/>
            <a:ext cx="1511312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927" b="true">
                <a:solidFill>
                  <a:srgbClr val="02057E"/>
                </a:solidFill>
                <a:latin typeface="Segoe UI Bold"/>
                <a:ea typeface="Segoe UI Bold"/>
                <a:cs typeface="Segoe UI Bold"/>
                <a:sym typeface="Segoe UI Bold"/>
              </a:rPr>
              <a:t>TIER 1: DUAL-SPACE TF-IDF FAST FILTER &amp; PLATT SCALING CALIBRATION</a:t>
            </a:r>
          </a:p>
          <a:p>
            <a:pPr algn="l">
              <a:lnSpc>
                <a:spcPts val="2251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98137" y="9553804"/>
            <a:ext cx="1413852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1"/>
              </a:lnSpc>
              <a:spcBef>
                <a:spcPct val="0"/>
              </a:spcBef>
            </a:pPr>
            <a:r>
              <a:rPr lang="en-US" sz="1726" i="true" strike="noStrike" u="none">
                <a:solidFill>
                  <a:srgbClr val="64748B"/>
                </a:solidFill>
                <a:latin typeface="Segoe UI"/>
                <a:ea typeface="Segoe UI"/>
                <a:cs typeface="Segoe UI"/>
                <a:sym typeface="Segoe UI"/>
              </a:rPr>
              <a:t>Academic reference: Platt (1999), Niculescu-Mizil &amp; Caruana (ICML 2005), Scikit-Learn Sparse Matrix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5099392" cy="109814"/>
            <a:chOff x="0" y="0"/>
            <a:chExt cx="20132523" cy="146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32548" cy="146431"/>
            </a:xfrm>
            <a:custGeom>
              <a:avLst/>
              <a:gdLst/>
              <a:ahLst/>
              <a:cxnLst/>
              <a:rect r="r" b="b" t="t" l="l"/>
              <a:pathLst>
                <a:path h="146431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2057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099392" y="0"/>
            <a:ext cx="3202448" cy="109814"/>
            <a:chOff x="0" y="0"/>
            <a:chExt cx="4269930" cy="1464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69867" cy="146431"/>
            </a:xfrm>
            <a:custGeom>
              <a:avLst/>
              <a:gdLst/>
              <a:ahLst/>
              <a:cxnLst/>
              <a:rect r="r" b="b" t="t" l="l"/>
              <a:pathLst>
                <a:path h="146431" w="4269867">
                  <a:moveTo>
                    <a:pt x="0" y="0"/>
                  </a:moveTo>
                  <a:lnTo>
                    <a:pt x="4269867" y="0"/>
                  </a:lnTo>
                  <a:lnTo>
                    <a:pt x="426986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F9B31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8137" y="411804"/>
            <a:ext cx="796147" cy="796147"/>
            <a:chOff x="0" y="0"/>
            <a:chExt cx="1061530" cy="10615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0"/>
                  </a:moveTo>
                  <a:lnTo>
                    <a:pt x="1061593" y="0"/>
                  </a:lnTo>
                  <a:lnTo>
                    <a:pt x="1061593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061530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02057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8137" y="2306088"/>
            <a:ext cx="16101451" cy="20593"/>
            <a:chOff x="0" y="0"/>
            <a:chExt cx="21468601" cy="274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6698" y="2459374"/>
            <a:ext cx="9357046" cy="6680340"/>
            <a:chOff x="0" y="0"/>
            <a:chExt cx="12476061" cy="8907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76099" cy="8907145"/>
            </a:xfrm>
            <a:custGeom>
              <a:avLst/>
              <a:gdLst/>
              <a:ahLst/>
              <a:cxnLst/>
              <a:rect r="r" b="b" t="t" l="l"/>
              <a:pathLst>
                <a:path h="8907145" w="12476099">
                  <a:moveTo>
                    <a:pt x="0" y="0"/>
                  </a:moveTo>
                  <a:lnTo>
                    <a:pt x="12476099" y="0"/>
                  </a:lnTo>
                  <a:lnTo>
                    <a:pt x="12476099" y="8907145"/>
                  </a:lnTo>
                  <a:lnTo>
                    <a:pt x="0" y="8907145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07951" y="2470814"/>
            <a:ext cx="9114549" cy="54912"/>
            <a:chOff x="0" y="0"/>
            <a:chExt cx="12152732" cy="73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52757" cy="73152"/>
            </a:xfrm>
            <a:custGeom>
              <a:avLst/>
              <a:gdLst/>
              <a:ahLst/>
              <a:cxnLst/>
              <a:rect r="r" b="b" t="t" l="l"/>
              <a:pathLst>
                <a:path h="73152" w="12152757">
                  <a:moveTo>
                    <a:pt x="0" y="0"/>
                  </a:moveTo>
                  <a:lnTo>
                    <a:pt x="12152757" y="0"/>
                  </a:lnTo>
                  <a:lnTo>
                    <a:pt x="12152757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7E22C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42752" y="2910068"/>
            <a:ext cx="9244946" cy="6163304"/>
            <a:chOff x="0" y="0"/>
            <a:chExt cx="12326595" cy="82177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26620" cy="8217789"/>
            </a:xfrm>
            <a:custGeom>
              <a:avLst/>
              <a:gdLst/>
              <a:ahLst/>
              <a:cxnLst/>
              <a:rect r="r" b="b" t="t" l="l"/>
              <a:pathLst>
                <a:path h="8217789" w="12326620">
                  <a:moveTo>
                    <a:pt x="0" y="0"/>
                  </a:moveTo>
                  <a:lnTo>
                    <a:pt x="12326620" y="0"/>
                  </a:lnTo>
                  <a:lnTo>
                    <a:pt x="12326620" y="8217789"/>
                  </a:lnTo>
                  <a:lnTo>
                    <a:pt x="0" y="8217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9" r="0" b="-4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805217" y="2459374"/>
            <a:ext cx="6405801" cy="7486499"/>
            <a:chOff x="0" y="0"/>
            <a:chExt cx="8541068" cy="99819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41131" cy="9982023"/>
            </a:xfrm>
            <a:custGeom>
              <a:avLst/>
              <a:gdLst/>
              <a:ahLst/>
              <a:cxnLst/>
              <a:rect r="r" b="b" t="t" l="l"/>
              <a:pathLst>
                <a:path h="9982023" w="8541131">
                  <a:moveTo>
                    <a:pt x="0" y="0"/>
                  </a:moveTo>
                  <a:lnTo>
                    <a:pt x="8541131" y="0"/>
                  </a:lnTo>
                  <a:lnTo>
                    <a:pt x="8541131" y="9982023"/>
                  </a:lnTo>
                  <a:lnTo>
                    <a:pt x="0" y="9982023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8541068" cy="9991523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211"/>
                </a:lnSpc>
              </a:pPr>
              <a:r>
                <a:rPr lang="en-US" sz="26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TIER 2 OPTIMIZATION</a:t>
              </a:r>
            </a:p>
            <a:p>
              <a:pPr algn="l">
                <a:lnSpc>
                  <a:spcPts val="3211"/>
                </a:lnSpc>
              </a:pPr>
              <a:r>
                <a:rPr lang="en-US" sz="26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SEMAN</a:t>
              </a:r>
              <a:r>
                <a:rPr lang="en-US" sz="26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TIC BREAKTHROUGH &amp; DEEP LEARNING</a:t>
              </a:r>
            </a:p>
            <a:p>
              <a:pPr algn="l">
                <a:lnSpc>
                  <a:spcPts val="3211"/>
                </a:lnSpc>
              </a:pPr>
              <a:r>
                <a:rPr lang="en-US" sz="26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</a:t>
              </a:r>
              <a:r>
                <a:rPr lang="en-US" sz="2676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Disentangled Attention: Decouples Content representations from relative Position vectors.</a:t>
              </a:r>
            </a:p>
            <a:p>
              <a:pPr algn="l">
                <a:lnSpc>
                  <a:spcPts val="3211"/>
                </a:lnSpc>
              </a:pPr>
              <a:r>
                <a:rPr lang="en-US" sz="2676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• 3-Matrix Attention: A = (C x C) + (C x P) + (P x C), deeply understanding complex cross-clause prompt semantics.</a:t>
              </a:r>
            </a:p>
            <a:p>
              <a:pPr algn="l">
                <a:lnSpc>
                  <a:spcPts val="3211"/>
                </a:lnSpc>
              </a:pPr>
              <a:r>
                <a:rPr lang="en-US" sz="2676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• Dynamic Loss: Class weight w_c heavily penalizes false negatives (FN), boosting Jailbreak F1 from 48.5% to 62.0%.</a:t>
              </a:r>
            </a:p>
            <a:p>
              <a:pPr algn="l">
                <a:lnSpc>
                  <a:spcPts val="3211"/>
                </a:lnSpc>
              </a:pPr>
              <a:r>
                <a:rPr lang="en-US" sz="26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SEMAN</a:t>
              </a:r>
              <a:r>
                <a:rPr lang="en-US" sz="2676" b="tru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TIC MASTERY:</a:t>
              </a:r>
            </a:p>
            <a:p>
              <a:pPr algn="l">
                <a:lnSpc>
                  <a:spcPts val="3211"/>
                </a:lnSpc>
              </a:pPr>
              <a:r>
                <a:rPr lang="en-US" sz="2676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Disentangled Attention coupled with Dynamic Loss enables DeBERTa-v3 to master adversarial semantics and subtle jailbreaks.</a:t>
              </a:r>
            </a:p>
            <a:p>
              <a:pPr algn="l">
                <a:lnSpc>
                  <a:spcPts val="294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81382" y="2470814"/>
            <a:ext cx="6053490" cy="54912"/>
            <a:chOff x="0" y="0"/>
            <a:chExt cx="8071320" cy="73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71358" cy="73152"/>
            </a:xfrm>
            <a:custGeom>
              <a:avLst/>
              <a:gdLst/>
              <a:ahLst/>
              <a:cxnLst/>
              <a:rect r="r" b="b" t="t" l="l"/>
              <a:pathLst>
                <a:path h="73152" w="8071358">
                  <a:moveTo>
                    <a:pt x="0" y="0"/>
                  </a:moveTo>
                  <a:lnTo>
                    <a:pt x="8071358" y="0"/>
                  </a:lnTo>
                  <a:lnTo>
                    <a:pt x="807135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7E22C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8137" y="9471441"/>
            <a:ext cx="16101451" cy="20593"/>
            <a:chOff x="0" y="0"/>
            <a:chExt cx="21468601" cy="274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086461" y="447927"/>
            <a:ext cx="1511312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927" b="true">
                <a:solidFill>
                  <a:srgbClr val="02057E"/>
                </a:solidFill>
                <a:latin typeface="Segoe UI Bold"/>
                <a:ea typeface="Segoe UI Bold"/>
                <a:cs typeface="Segoe UI Bold"/>
                <a:sym typeface="Segoe UI Bold"/>
              </a:rPr>
              <a:t>TIER 2: DEBERTA-V3 SEMANTIC DISENTANGLED ATTENTION &amp; DYNAMIC LOSS</a:t>
            </a:r>
          </a:p>
          <a:p>
            <a:pPr algn="l">
              <a:lnSpc>
                <a:spcPts val="2251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98137" y="9553804"/>
            <a:ext cx="1413852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1"/>
              </a:lnSpc>
              <a:spcBef>
                <a:spcPct val="0"/>
              </a:spcBef>
            </a:pPr>
            <a:r>
              <a:rPr lang="en-US" sz="1726" i="true" strike="noStrike" u="none">
                <a:solidFill>
                  <a:srgbClr val="64748B"/>
                </a:solidFill>
                <a:latin typeface="Segoe UI"/>
                <a:ea typeface="Segoe UI"/>
                <a:cs typeface="Segoe UI"/>
                <a:sym typeface="Segoe UI"/>
              </a:rPr>
              <a:t>Academic reference: He et al. (DeBERTa-v3, ICLR 2023), Hao Li et al. (ACL 2025)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5099392" cy="109814"/>
            <a:chOff x="0" y="0"/>
            <a:chExt cx="20132523" cy="146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32548" cy="146431"/>
            </a:xfrm>
            <a:custGeom>
              <a:avLst/>
              <a:gdLst/>
              <a:ahLst/>
              <a:cxnLst/>
              <a:rect r="r" b="b" t="t" l="l"/>
              <a:pathLst>
                <a:path h="146431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2057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099392" y="0"/>
            <a:ext cx="3202448" cy="109814"/>
            <a:chOff x="0" y="0"/>
            <a:chExt cx="4269930" cy="1464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69867" cy="146431"/>
            </a:xfrm>
            <a:custGeom>
              <a:avLst/>
              <a:gdLst/>
              <a:ahLst/>
              <a:cxnLst/>
              <a:rect r="r" b="b" t="t" l="l"/>
              <a:pathLst>
                <a:path h="146431" w="4269867">
                  <a:moveTo>
                    <a:pt x="0" y="0"/>
                  </a:moveTo>
                  <a:lnTo>
                    <a:pt x="4269867" y="0"/>
                  </a:lnTo>
                  <a:lnTo>
                    <a:pt x="426986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F9B31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8137" y="411804"/>
            <a:ext cx="796147" cy="796147"/>
            <a:chOff x="0" y="0"/>
            <a:chExt cx="1061530" cy="10615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0"/>
                  </a:moveTo>
                  <a:lnTo>
                    <a:pt x="1061593" y="0"/>
                  </a:lnTo>
                  <a:lnTo>
                    <a:pt x="1061593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061530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02057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8137" y="2306088"/>
            <a:ext cx="16101451" cy="20593"/>
            <a:chOff x="0" y="0"/>
            <a:chExt cx="21468601" cy="274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6698" y="2459374"/>
            <a:ext cx="9357046" cy="6680340"/>
            <a:chOff x="0" y="0"/>
            <a:chExt cx="12476061" cy="8907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76099" cy="8907145"/>
            </a:xfrm>
            <a:custGeom>
              <a:avLst/>
              <a:gdLst/>
              <a:ahLst/>
              <a:cxnLst/>
              <a:rect r="r" b="b" t="t" l="l"/>
              <a:pathLst>
                <a:path h="8907145" w="12476099">
                  <a:moveTo>
                    <a:pt x="0" y="0"/>
                  </a:moveTo>
                  <a:lnTo>
                    <a:pt x="12476099" y="0"/>
                  </a:lnTo>
                  <a:lnTo>
                    <a:pt x="12476099" y="8907145"/>
                  </a:lnTo>
                  <a:lnTo>
                    <a:pt x="0" y="8907145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07951" y="2470814"/>
            <a:ext cx="9114549" cy="54912"/>
            <a:chOff x="0" y="0"/>
            <a:chExt cx="12152732" cy="73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52757" cy="73152"/>
            </a:xfrm>
            <a:custGeom>
              <a:avLst/>
              <a:gdLst/>
              <a:ahLst/>
              <a:cxnLst/>
              <a:rect r="r" b="b" t="t" l="l"/>
              <a:pathLst>
                <a:path h="73152" w="12152757">
                  <a:moveTo>
                    <a:pt x="0" y="0"/>
                  </a:moveTo>
                  <a:lnTo>
                    <a:pt x="12152757" y="0"/>
                  </a:lnTo>
                  <a:lnTo>
                    <a:pt x="12152757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DB04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39314" y="2944930"/>
            <a:ext cx="9251813" cy="6093562"/>
            <a:chOff x="0" y="0"/>
            <a:chExt cx="12335751" cy="81247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35764" cy="8124698"/>
            </a:xfrm>
            <a:custGeom>
              <a:avLst/>
              <a:gdLst/>
              <a:ahLst/>
              <a:cxnLst/>
              <a:rect r="r" b="b" t="t" l="l"/>
              <a:pathLst>
                <a:path h="8124698" w="12335764">
                  <a:moveTo>
                    <a:pt x="0" y="0"/>
                  </a:moveTo>
                  <a:lnTo>
                    <a:pt x="12335764" y="0"/>
                  </a:lnTo>
                  <a:lnTo>
                    <a:pt x="12335764" y="8124698"/>
                  </a:lnTo>
                  <a:lnTo>
                    <a:pt x="0" y="8124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" r="0" b="-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805217" y="2459374"/>
            <a:ext cx="6405801" cy="6680339"/>
            <a:chOff x="0" y="0"/>
            <a:chExt cx="8541068" cy="89071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41131" cy="8907144"/>
            </a:xfrm>
            <a:custGeom>
              <a:avLst/>
              <a:gdLst/>
              <a:ahLst/>
              <a:cxnLst/>
              <a:rect r="r" b="b" t="t" l="l"/>
              <a:pathLst>
                <a:path h="8907144" w="8541131">
                  <a:moveTo>
                    <a:pt x="0" y="0"/>
                  </a:moveTo>
                  <a:lnTo>
                    <a:pt x="8541131" y="0"/>
                  </a:lnTo>
                  <a:lnTo>
                    <a:pt x="8541131" y="8907144"/>
                  </a:lnTo>
                  <a:lnTo>
                    <a:pt x="0" y="8907144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541068" cy="890711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0" indent="0" lvl="0">
                <a:lnSpc>
                  <a:spcPts val="2611"/>
                </a:lnSpc>
                <a:spcBef>
                  <a:spcPct val="0"/>
                </a:spcBef>
              </a:pPr>
              <a:r>
                <a:rPr lang="en-US" b="true" sz="2176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FALSE-BLOC</a:t>
              </a:r>
              <a:r>
                <a:rPr lang="en-US" b="true" sz="21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K</a:t>
              </a:r>
              <a:r>
                <a:rPr lang="en-US" b="true" sz="21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I</a:t>
              </a:r>
              <a:r>
                <a:rPr lang="en-US" b="true" sz="21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NG </a:t>
              </a:r>
              <a:r>
                <a:rPr lang="en-US" b="true" sz="21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RESISTA</a:t>
              </a:r>
              <a:r>
                <a:rPr lang="en-US" b="true" sz="21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N</a:t>
              </a:r>
              <a:r>
                <a:rPr lang="en-US" b="true" sz="21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CE</a:t>
              </a:r>
            </a:p>
            <a:p>
              <a:pPr algn="l" marL="0" indent="0" lvl="0">
                <a:lnSpc>
                  <a:spcPts val="2611"/>
                </a:lnSpc>
                <a:spcBef>
                  <a:spcPct val="0"/>
                </a:spcBef>
              </a:pPr>
              <a:r>
                <a:rPr lang="en-US" b="true" sz="21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MOF INVARIANCE &amp; CPU FP32 </a:t>
              </a:r>
              <a:r>
                <a:rPr lang="en-US" b="true" sz="21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RUN</a:t>
              </a:r>
              <a:r>
                <a:rPr lang="en-US" b="true" sz="21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</a:t>
              </a:r>
              <a:r>
                <a:rPr lang="en-US" b="true" sz="21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IME</a:t>
              </a:r>
            </a:p>
            <a:p>
              <a:pPr algn="l" marL="0" indent="0" lvl="0">
                <a:lnSpc>
                  <a:spcPts val="2611"/>
                </a:lnSpc>
                <a:spcBef>
                  <a:spcPct val="0"/>
                </a:spcBef>
              </a:pPr>
              <a:r>
                <a:rPr lang="en-US" b="true" sz="21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</a:t>
              </a:r>
              <a:r>
                <a:rPr lang="en-US" b="true" sz="21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Overdefense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Crisis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: Meta Prompt-Guard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falsely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blocks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99.12% o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f b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e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nign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progr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a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mmi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g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c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o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de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(NotInject).</a:t>
              </a:r>
            </a:p>
            <a:p>
              <a:pPr algn="l" marL="0" indent="0" lvl="0">
                <a:lnSpc>
                  <a:spcPts val="2611"/>
                </a:lnSpc>
                <a:spcBef>
                  <a:spcPct val="0"/>
                </a:spcBef>
              </a:pP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• M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OF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Sy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ta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c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tic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M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ask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: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C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o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mpu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es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prog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r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ammi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ng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syn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ax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k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eyword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ra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ios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t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o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d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i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s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inguish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valid code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f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rom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injec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io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payloads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.</a:t>
              </a:r>
            </a:p>
            <a:p>
              <a:pPr algn="l" marL="0" indent="0" lvl="0">
                <a:lnSpc>
                  <a:spcPts val="2611"/>
                </a:lnSpc>
                <a:spcBef>
                  <a:spcPct val="0"/>
                </a:spcBef>
              </a:pP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•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Dynam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i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c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h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reshold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Discou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: tau_eff = tau_0 + gamma * MOF(X),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au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omat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i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cally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re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l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axi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ng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thresholds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w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h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en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beni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g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code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is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de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ected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.</a:t>
              </a:r>
            </a:p>
            <a:p>
              <a:pPr algn="l" marL="0" indent="0" lvl="0">
                <a:lnSpc>
                  <a:spcPts val="2611"/>
                </a:lnSpc>
                <a:spcBef>
                  <a:spcPct val="0"/>
                </a:spcBef>
              </a:pP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• CPU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Native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FP32: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Reta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ins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full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32-bit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floati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ng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poi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precisio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wi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th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out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INT8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quantization loss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,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achieving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99.00%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accu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r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acy o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 NotInject.</a:t>
              </a:r>
            </a:p>
            <a:p>
              <a:pPr algn="l" marL="0" indent="0" lvl="0">
                <a:lnSpc>
                  <a:spcPts val="2611"/>
                </a:lnSpc>
                <a:spcBef>
                  <a:spcPct val="0"/>
                </a:spcBef>
              </a:pP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CODE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B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ASE PR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O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TECTIO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N:</a:t>
              </a:r>
            </a:p>
            <a:p>
              <a:pPr algn="l" marL="0" indent="0" lvl="0">
                <a:lnSpc>
                  <a:spcPts val="2611"/>
                </a:lnSpc>
                <a:spcBef>
                  <a:spcPct val="0"/>
                </a:spcBef>
              </a:pP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MOF Invariance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completely resolves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t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he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grea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est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e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terpr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i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se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g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uardrail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di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l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emma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: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Ir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o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nclad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s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a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fety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wi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h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o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ut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disrupti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ng 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deve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l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o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p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e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r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s</a:t>
              </a:r>
              <a:r>
                <a:rPr lang="en-US" sz="21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.</a:t>
              </a:r>
            </a:p>
            <a:p>
              <a:pPr algn="l" marL="0" indent="0" lvl="0">
                <a:lnSpc>
                  <a:spcPts val="261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81382" y="2470814"/>
            <a:ext cx="6053490" cy="54912"/>
            <a:chOff x="0" y="0"/>
            <a:chExt cx="8071320" cy="73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71358" cy="73152"/>
            </a:xfrm>
            <a:custGeom>
              <a:avLst/>
              <a:gdLst/>
              <a:ahLst/>
              <a:cxnLst/>
              <a:rect r="r" b="b" t="t" l="l"/>
              <a:pathLst>
                <a:path h="73152" w="8071358">
                  <a:moveTo>
                    <a:pt x="0" y="0"/>
                  </a:moveTo>
                  <a:lnTo>
                    <a:pt x="8071358" y="0"/>
                  </a:lnTo>
                  <a:lnTo>
                    <a:pt x="807135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DB04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8137" y="9471441"/>
            <a:ext cx="16101451" cy="20593"/>
            <a:chOff x="0" y="0"/>
            <a:chExt cx="21468601" cy="274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086461" y="484051"/>
            <a:ext cx="1511312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927" b="true">
                <a:solidFill>
                  <a:srgbClr val="02057E"/>
                </a:solidFill>
                <a:latin typeface="Segoe UI Bold"/>
                <a:ea typeface="Segoe UI Bold"/>
                <a:cs typeface="Segoe UI Bold"/>
                <a:sym typeface="Segoe UI Bold"/>
              </a:rPr>
              <a:t>TIER 2: NATIVE CPU FP32 EXECUTION &amp; CODE OVERDEFENSE RESISTANCE (MOF)</a:t>
            </a:r>
          </a:p>
          <a:p>
            <a:pPr algn="l">
              <a:lnSpc>
                <a:spcPts val="2251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98137" y="9553804"/>
            <a:ext cx="1413852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1"/>
              </a:lnSpc>
              <a:spcBef>
                <a:spcPct val="0"/>
              </a:spcBef>
            </a:pPr>
            <a:r>
              <a:rPr lang="en-US" sz="1726" i="true" strike="noStrike" u="none">
                <a:solidFill>
                  <a:srgbClr val="64748B"/>
                </a:solidFill>
                <a:latin typeface="Segoe UI"/>
                <a:ea typeface="Segoe UI"/>
                <a:cs typeface="Segoe UI"/>
                <a:sym typeface="Segoe UI"/>
              </a:rPr>
              <a:t>Academic reference: Hao Li et al. (PIGuard MOF Invariance, ACL 2025), He et al. (ICLR 2023)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5099392" cy="109814"/>
            <a:chOff x="0" y="0"/>
            <a:chExt cx="20132523" cy="146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32548" cy="146431"/>
            </a:xfrm>
            <a:custGeom>
              <a:avLst/>
              <a:gdLst/>
              <a:ahLst/>
              <a:cxnLst/>
              <a:rect r="r" b="b" t="t" l="l"/>
              <a:pathLst>
                <a:path h="146431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02057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099392" y="0"/>
            <a:ext cx="3202448" cy="109814"/>
            <a:chOff x="0" y="0"/>
            <a:chExt cx="4269930" cy="1464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69867" cy="146431"/>
            </a:xfrm>
            <a:custGeom>
              <a:avLst/>
              <a:gdLst/>
              <a:ahLst/>
              <a:cxnLst/>
              <a:rect r="r" b="b" t="t" l="l"/>
              <a:pathLst>
                <a:path h="146431" w="4269867">
                  <a:moveTo>
                    <a:pt x="0" y="0"/>
                  </a:moveTo>
                  <a:lnTo>
                    <a:pt x="4269867" y="0"/>
                  </a:lnTo>
                  <a:lnTo>
                    <a:pt x="426986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F9B31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8137" y="411804"/>
            <a:ext cx="796147" cy="796147"/>
            <a:chOff x="0" y="0"/>
            <a:chExt cx="1061530" cy="10615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0"/>
                  </a:moveTo>
                  <a:lnTo>
                    <a:pt x="1061593" y="0"/>
                  </a:lnTo>
                  <a:lnTo>
                    <a:pt x="1061593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061530" cy="1061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02057E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8137" y="2306088"/>
            <a:ext cx="16101451" cy="20593"/>
            <a:chOff x="0" y="0"/>
            <a:chExt cx="21468601" cy="274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6698" y="2459374"/>
            <a:ext cx="9357046" cy="6680340"/>
            <a:chOff x="0" y="0"/>
            <a:chExt cx="12476061" cy="8907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76099" cy="8907145"/>
            </a:xfrm>
            <a:custGeom>
              <a:avLst/>
              <a:gdLst/>
              <a:ahLst/>
              <a:cxnLst/>
              <a:rect r="r" b="b" t="t" l="l"/>
              <a:pathLst>
                <a:path h="8907145" w="12476099">
                  <a:moveTo>
                    <a:pt x="0" y="0"/>
                  </a:moveTo>
                  <a:lnTo>
                    <a:pt x="12476099" y="0"/>
                  </a:lnTo>
                  <a:lnTo>
                    <a:pt x="12476099" y="8907145"/>
                  </a:lnTo>
                  <a:lnTo>
                    <a:pt x="0" y="8907145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07951" y="2470814"/>
            <a:ext cx="9114549" cy="54912"/>
            <a:chOff x="0" y="0"/>
            <a:chExt cx="12152732" cy="73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52757" cy="73152"/>
            </a:xfrm>
            <a:custGeom>
              <a:avLst/>
              <a:gdLst/>
              <a:ahLst/>
              <a:cxnLst/>
              <a:rect r="r" b="b" t="t" l="l"/>
              <a:pathLst>
                <a:path h="73152" w="12152757">
                  <a:moveTo>
                    <a:pt x="0" y="0"/>
                  </a:moveTo>
                  <a:lnTo>
                    <a:pt x="12152757" y="0"/>
                  </a:lnTo>
                  <a:lnTo>
                    <a:pt x="12152757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F9B31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39314" y="2912993"/>
            <a:ext cx="9251813" cy="6157446"/>
            <a:chOff x="0" y="0"/>
            <a:chExt cx="12335751" cy="82099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35764" cy="8209915"/>
            </a:xfrm>
            <a:custGeom>
              <a:avLst/>
              <a:gdLst/>
              <a:ahLst/>
              <a:cxnLst/>
              <a:rect r="r" b="b" t="t" l="l"/>
              <a:pathLst>
                <a:path h="8209915" w="12335764">
                  <a:moveTo>
                    <a:pt x="0" y="0"/>
                  </a:moveTo>
                  <a:lnTo>
                    <a:pt x="12335764" y="0"/>
                  </a:lnTo>
                  <a:lnTo>
                    <a:pt x="12335764" y="8209915"/>
                  </a:lnTo>
                  <a:lnTo>
                    <a:pt x="0" y="8209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" r="0" b="-1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805217" y="2459374"/>
            <a:ext cx="6405801" cy="7493526"/>
            <a:chOff x="0" y="0"/>
            <a:chExt cx="8541068" cy="99913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41131" cy="9991393"/>
            </a:xfrm>
            <a:custGeom>
              <a:avLst/>
              <a:gdLst/>
              <a:ahLst/>
              <a:cxnLst/>
              <a:rect r="r" b="b" t="t" l="l"/>
              <a:pathLst>
                <a:path h="9991393" w="8541131">
                  <a:moveTo>
                    <a:pt x="0" y="0"/>
                  </a:moveTo>
                  <a:lnTo>
                    <a:pt x="8541131" y="0"/>
                  </a:lnTo>
                  <a:lnTo>
                    <a:pt x="8541131" y="9991393"/>
                  </a:lnTo>
                  <a:lnTo>
                    <a:pt x="0" y="9991393"/>
                  </a:ln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CBD5E1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541068" cy="999136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0" indent="0" lvl="0">
                <a:lnSpc>
                  <a:spcPts val="2731"/>
                </a:lnSpc>
                <a:spcBef>
                  <a:spcPct val="0"/>
                </a:spcBef>
              </a:pPr>
              <a:r>
                <a:rPr lang="en-US" b="true" sz="2276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200K DOCUMEN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 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BREAKT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H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ROUGH</a:t>
              </a:r>
            </a:p>
            <a:p>
              <a:pPr algn="l" marL="0" indent="0" lvl="0">
                <a:lnSpc>
                  <a:spcPts val="2731"/>
                </a:lnSpc>
                <a:spcBef>
                  <a:spcPct val="0"/>
                </a:spcBef>
              </a:pP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POSI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TI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ON-AWARE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 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PR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I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OR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IT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Y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 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SCANNI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N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G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 CHUNKER</a:t>
              </a:r>
            </a:p>
            <a:p>
              <a:pPr algn="l" marL="0" indent="0" lvl="0">
                <a:lnSpc>
                  <a:spcPts val="2731"/>
                </a:lnSpc>
                <a:spcBef>
                  <a:spcPct val="0"/>
                </a:spcBef>
              </a:pP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•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Co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nt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ext-Wi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dow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Vul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er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a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b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i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l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i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ty: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512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-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token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limi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perm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i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ts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a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ta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c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kers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to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pad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text,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pushing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malicious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payload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s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to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doc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u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ment ta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i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ls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.</a:t>
              </a:r>
            </a:p>
            <a:p>
              <a:pPr algn="l" marL="0" indent="0" lvl="0">
                <a:lnSpc>
                  <a:spcPts val="2731"/>
                </a:lnSpc>
                <a:spcBef>
                  <a:spcPct val="0"/>
                </a:spcBef>
              </a:pP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• Head-and-Tail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Str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a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tegy: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Segme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ts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documen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s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i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nto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512-c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h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aracter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blocks,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priori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ti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zi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g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t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he Tail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Block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scan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f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ir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st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.</a:t>
              </a:r>
            </a:p>
            <a:p>
              <a:pPr algn="l" marL="0" indent="0" lvl="0">
                <a:lnSpc>
                  <a:spcPts val="2731"/>
                </a:lnSpc>
                <a:spcBef>
                  <a:spcPct val="0"/>
                </a:spcBef>
              </a:pP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• Early-Stopping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Mechanism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: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Detecti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ng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malicious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p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ayload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in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h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e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Ta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i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l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Block i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mmediately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ha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lt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s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remaini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ng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chu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k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sca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s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.</a:t>
              </a:r>
            </a:p>
            <a:p>
              <a:pPr algn="l" marL="0" indent="0" lvl="0">
                <a:lnSpc>
                  <a:spcPts val="2731"/>
                </a:lnSpc>
                <a:spcBef>
                  <a:spcPct val="0"/>
                </a:spcBef>
              </a:pP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• Dramatic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111x S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peedup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: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Cu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ts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200k-ch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a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rac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ter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docu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m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en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sc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an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ning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ti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me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from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4,115ms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dow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to just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37.1ms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o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 CPU!</a:t>
              </a:r>
            </a:p>
            <a:p>
              <a:pPr algn="l" marL="0" indent="0" lvl="0">
                <a:lnSpc>
                  <a:spcPts val="2731"/>
                </a:lnSpc>
                <a:spcBef>
                  <a:spcPct val="0"/>
                </a:spcBef>
              </a:pP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EXPO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N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EN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T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IAL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 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S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P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EEDUP</a:t>
              </a:r>
              <a:r>
                <a:rPr lang="en-US" b="true" sz="2276" strike="noStrike" u="none">
                  <a:solidFill>
                    <a:srgbClr val="0F172A"/>
                  </a:solidFill>
                  <a:latin typeface="Segoe UI Bold"/>
                  <a:ea typeface="Segoe UI Bold"/>
                  <a:cs typeface="Segoe UI Bold"/>
                  <a:sym typeface="Segoe UI Bold"/>
                </a:rPr>
                <a:t>:</a:t>
              </a:r>
            </a:p>
            <a:p>
              <a:pPr algn="l" marL="0" indent="0" lvl="0">
                <a:lnSpc>
                  <a:spcPts val="2731"/>
                </a:lnSpc>
                <a:spcBef>
                  <a:spcPct val="0"/>
                </a:spcBef>
              </a:pP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Tail-first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early-stoppi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ng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co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m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ple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e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l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y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ne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u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tral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i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zes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ai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l-padd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i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ng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explo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it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s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w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hi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le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m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ain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aining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la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ency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&lt; 40ms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o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n 200k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-character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 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tex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t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s</a:t>
              </a:r>
              <a:r>
                <a:rPr lang="en-US" sz="2276" strike="noStrike" u="none">
                  <a:solidFill>
                    <a:srgbClr val="0F172A"/>
                  </a:solidFill>
                  <a:latin typeface="Segoe UI"/>
                  <a:ea typeface="Segoe UI"/>
                  <a:cs typeface="Segoe UI"/>
                  <a:sym typeface="Segoe UI"/>
                </a:rPr>
                <a:t>.</a:t>
              </a:r>
            </a:p>
            <a:p>
              <a:pPr algn="l" marL="0" indent="0" lvl="0">
                <a:lnSpc>
                  <a:spcPts val="273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81382" y="2470814"/>
            <a:ext cx="6053490" cy="54912"/>
            <a:chOff x="0" y="0"/>
            <a:chExt cx="8071320" cy="73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71358" cy="73152"/>
            </a:xfrm>
            <a:custGeom>
              <a:avLst/>
              <a:gdLst/>
              <a:ahLst/>
              <a:cxnLst/>
              <a:rect r="r" b="b" t="t" l="l"/>
              <a:pathLst>
                <a:path h="73152" w="8071358">
                  <a:moveTo>
                    <a:pt x="0" y="0"/>
                  </a:moveTo>
                  <a:lnTo>
                    <a:pt x="8071358" y="0"/>
                  </a:lnTo>
                  <a:lnTo>
                    <a:pt x="807135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F9B31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8137" y="9471441"/>
            <a:ext cx="16101451" cy="20593"/>
            <a:chOff x="0" y="0"/>
            <a:chExt cx="21468601" cy="274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468587" cy="27432"/>
            </a:xfrm>
            <a:custGeom>
              <a:avLst/>
              <a:gdLst/>
              <a:ahLst/>
              <a:cxnLst/>
              <a:rect r="r" b="b" t="t" l="l"/>
              <a:pathLst>
                <a:path h="27432" w="21468587">
                  <a:moveTo>
                    <a:pt x="0" y="0"/>
                  </a:moveTo>
                  <a:lnTo>
                    <a:pt x="21468587" y="0"/>
                  </a:lnTo>
                  <a:lnTo>
                    <a:pt x="21468587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146173" y="484051"/>
            <a:ext cx="1511312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927" b="true">
                <a:solidFill>
                  <a:srgbClr val="02057E"/>
                </a:solidFill>
                <a:latin typeface="Segoe UI Bold"/>
                <a:ea typeface="Segoe UI Bold"/>
                <a:cs typeface="Segoe UI Bold"/>
                <a:sym typeface="Segoe UI Bold"/>
              </a:rPr>
              <a:t>200K-C</a:t>
            </a:r>
            <a:r>
              <a:rPr lang="en-US" sz="2927" b="true">
                <a:solidFill>
                  <a:srgbClr val="02057E"/>
                </a:solidFill>
                <a:latin typeface="Segoe UI Bold"/>
                <a:ea typeface="Segoe UI Bold"/>
                <a:cs typeface="Segoe UI Bold"/>
                <a:sym typeface="Segoe UI Bold"/>
              </a:rPr>
              <a:t>HAR DOCUMENT PROCESSING BREAKTHROUGH: EARLY-STOPPING CHUNKER</a:t>
            </a:r>
          </a:p>
          <a:p>
            <a:pPr algn="l">
              <a:lnSpc>
                <a:spcPts val="2251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98137" y="9553804"/>
            <a:ext cx="1413852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1"/>
              </a:lnSpc>
              <a:spcBef>
                <a:spcPct val="0"/>
              </a:spcBef>
            </a:pPr>
            <a:r>
              <a:rPr lang="en-US" sz="1726" i="true" strike="noStrike" u="none">
                <a:solidFill>
                  <a:srgbClr val="64748B"/>
                </a:solidFill>
                <a:latin typeface="Segoe UI"/>
                <a:ea typeface="Segoe UI"/>
                <a:cs typeface="Segoe UI"/>
                <a:sym typeface="Segoe UI"/>
              </a:rPr>
              <a:t>Academic reference: Zhou et al. (Prompt Overflow, arXiv 2026), test_hidden_prompt_at_tail.py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DAHWNXhSXKg</dc:identifier>
  <dcterms:modified xsi:type="dcterms:W3CDTF">2011-08-01T06:04:30Z</dcterms:modified>
  <cp:revision>1</cp:revision>
  <dc:title>PI-GUARD-Present-Meeting-6.pptx</dc:title>
</cp:coreProperties>
</file>